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87" r:id="rId5"/>
    <p:sldId id="259" r:id="rId6"/>
    <p:sldId id="260" r:id="rId7"/>
    <p:sldId id="261" r:id="rId8"/>
    <p:sldId id="262" r:id="rId9"/>
    <p:sldId id="264" r:id="rId10"/>
    <p:sldId id="266" r:id="rId11"/>
    <p:sldId id="263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8" r:id="rId31"/>
    <p:sldId id="284" r:id="rId32"/>
    <p:sldId id="285" r:id="rId33"/>
    <p:sldId id="286" r:id="rId34"/>
  </p:sldIdLst>
  <p:sldSz cx="18288000" cy="10287000"/>
  <p:notesSz cx="6858000" cy="9144000"/>
  <p:embeddedFontLst>
    <p:embeddedFont>
      <p:font typeface="Bebas Neue Bold" panose="020B0604020202020204" charset="0"/>
      <p:regular r:id="rId35"/>
    </p:embeddedFont>
    <p:embeddedFont>
      <p:font typeface="Calibri (MS)" panose="020B0604020202020204" charset="0"/>
      <p:regular r:id="rId36"/>
    </p:embeddedFont>
    <p:embeddedFont>
      <p:font typeface="Canva Sans" panose="020B0604020202020204" charset="0"/>
      <p:regular r:id="rId37"/>
    </p:embeddedFont>
    <p:embeddedFont>
      <p:font typeface="Canva Sans Italics" panose="020B0604020202020204" charset="0"/>
      <p:regular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Open Sans Bold" panose="020B0806030504020204" charset="0"/>
      <p:regular r:id="rId43"/>
    </p:embeddedFont>
    <p:embeddedFont>
      <p:font typeface="Roca One Heavy" panose="020B0604020202020204" charset="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4641" autoAdjust="0"/>
  </p:normalViewPr>
  <p:slideViewPr>
    <p:cSldViewPr>
      <p:cViewPr varScale="1">
        <p:scale>
          <a:sx n="52" d="100"/>
          <a:sy n="52" d="100"/>
        </p:scale>
        <p:origin x="120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Top1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map.org/book/?utm_source=chatgpt.com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5409271" y="1202109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0"/>
                </a:lnTo>
                <a:lnTo>
                  <a:pt x="0" y="788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061408" y="2694886"/>
            <a:ext cx="14165185" cy="4376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9"/>
              </a:lnSpc>
              <a:spcBef>
                <a:spcPct val="0"/>
              </a:spcBef>
            </a:pPr>
            <a:r>
              <a:rPr lang="en-US" sz="25271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SURAKSHA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13856" y="6352191"/>
            <a:ext cx="13660288" cy="35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4"/>
              </a:lnSpc>
              <a:spcBef>
                <a:spcPct val="0"/>
              </a:spcBef>
            </a:pPr>
            <a:r>
              <a:rPr lang="en-US" sz="2096" spc="167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 INTELLIGENT VULNERABILITY SCANNER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37542" y="8141915"/>
            <a:ext cx="3584019" cy="122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1899" spc="17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Name    : K PRANAV ESWAR</a:t>
            </a:r>
          </a:p>
          <a:p>
            <a:pPr algn="l">
              <a:lnSpc>
                <a:spcPts val="3343"/>
              </a:lnSpc>
            </a:pPr>
            <a:r>
              <a:rPr lang="en-US" sz="1899" spc="17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 No. : LMC25MCA-2034</a:t>
            </a:r>
          </a:p>
          <a:p>
            <a:pPr algn="l">
              <a:lnSpc>
                <a:spcPts val="3343"/>
              </a:lnSpc>
              <a:spcBef>
                <a:spcPct val="0"/>
              </a:spcBef>
            </a:pPr>
            <a:r>
              <a:rPr lang="en-US" sz="1899" spc="17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Dept      : S3 MCA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06400" y="8755388"/>
            <a:ext cx="3994904" cy="388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3"/>
              </a:lnSpc>
              <a:spcBef>
                <a:spcPct val="0"/>
              </a:spcBef>
            </a:pPr>
            <a:r>
              <a:rPr lang="en-US" sz="1899" spc="17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GUIDE : Ms BISMI K CHARLEYS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670617" y="1658828"/>
            <a:ext cx="4752397" cy="8628172"/>
            <a:chOff x="0" y="0"/>
            <a:chExt cx="349758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97580" cy="6350000"/>
            </a:xfrm>
            <a:custGeom>
              <a:avLst/>
              <a:gdLst/>
              <a:ahLst/>
              <a:cxnLst/>
              <a:rect l="l" t="t" r="r" b="b"/>
              <a:pathLst>
                <a:path w="3497580" h="6350000">
                  <a:moveTo>
                    <a:pt x="3497580" y="6350000"/>
                  </a:moveTo>
                  <a:lnTo>
                    <a:pt x="744220" y="6350000"/>
                  </a:lnTo>
                  <a:lnTo>
                    <a:pt x="0" y="0"/>
                  </a:lnTo>
                  <a:lnTo>
                    <a:pt x="2753360" y="0"/>
                  </a:lnTo>
                  <a:lnTo>
                    <a:pt x="3497580" y="6350000"/>
                  </a:lnTo>
                  <a:close/>
                </a:path>
              </a:pathLst>
            </a:custGeom>
            <a:blipFill>
              <a:blip r:embed="rId3"/>
              <a:stretch>
                <a:fillRect t="-21408" r="-4685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91974" y="0"/>
            <a:ext cx="3947476" cy="7166805"/>
            <a:chOff x="0" y="0"/>
            <a:chExt cx="349758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97580" cy="6350000"/>
            </a:xfrm>
            <a:custGeom>
              <a:avLst/>
              <a:gdLst/>
              <a:ahLst/>
              <a:cxnLst/>
              <a:rect l="l" t="t" r="r" b="b"/>
              <a:pathLst>
                <a:path w="3497580" h="6350000">
                  <a:moveTo>
                    <a:pt x="3497580" y="6350000"/>
                  </a:moveTo>
                  <a:lnTo>
                    <a:pt x="744220" y="6350000"/>
                  </a:lnTo>
                  <a:lnTo>
                    <a:pt x="0" y="0"/>
                  </a:lnTo>
                  <a:lnTo>
                    <a:pt x="2753360" y="0"/>
                  </a:lnTo>
                  <a:lnTo>
                    <a:pt x="3497580" y="6350000"/>
                  </a:lnTo>
                  <a:close/>
                </a:path>
              </a:pathLst>
            </a:custGeom>
            <a:blipFill>
              <a:blip r:embed="rId3"/>
              <a:stretch>
                <a:fillRect l="-70819" t="-4551" b="-3666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882609" y="5653128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7968411" y="1201755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10248449" y="1555928"/>
            <a:ext cx="597518" cy="103605"/>
            <a:chOff x="0" y="0"/>
            <a:chExt cx="812800" cy="14093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04952" y="1624208"/>
            <a:ext cx="4825476" cy="111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INTRODUCTION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04952" y="2790703"/>
            <a:ext cx="6478183" cy="347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21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WEB-BASED CYBERSECURITY VULNERABILITY ASSESSMENT PLATFORM.</a:t>
            </a:r>
          </a:p>
          <a:p>
            <a:pPr algn="l">
              <a:lnSpc>
                <a:spcPts val="2419"/>
              </a:lnSpc>
            </a:pPr>
            <a:endParaRPr lang="en-US" sz="2127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419"/>
              </a:lnSpc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combines different security checks in a single system:</a:t>
            </a:r>
          </a:p>
          <a:p>
            <a:pPr marL="373064" lvl="1" indent="-186532" algn="l">
              <a:lnSpc>
                <a:spcPts val="2419"/>
              </a:lnSpc>
              <a:buFont typeface="Arial"/>
              <a:buChar char="•"/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Web Vulnerability Scanning</a:t>
            </a:r>
          </a:p>
          <a:p>
            <a:pPr marL="373064" lvl="1" indent="-186532" algn="l">
              <a:lnSpc>
                <a:spcPts val="2419"/>
              </a:lnSpc>
              <a:buFont typeface="Arial"/>
              <a:buChar char="•"/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Network Reconnaissance</a:t>
            </a:r>
          </a:p>
          <a:p>
            <a:pPr marL="373064" lvl="1" indent="-186532" algn="l">
              <a:lnSpc>
                <a:spcPts val="2419"/>
              </a:lnSpc>
              <a:buFont typeface="Arial"/>
              <a:buChar char="•"/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SSL/TLS Security Analysis</a:t>
            </a:r>
          </a:p>
          <a:p>
            <a:pPr marL="373064" lvl="1" indent="-186532" algn="l">
              <a:lnSpc>
                <a:spcPts val="2419"/>
              </a:lnSpc>
              <a:buFont typeface="Arial"/>
              <a:buChar char="•"/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Protocol Analysis</a:t>
            </a:r>
          </a:p>
          <a:p>
            <a:pPr marL="373064" lvl="1" indent="-186532" algn="l">
              <a:lnSpc>
                <a:spcPts val="2419"/>
              </a:lnSpc>
              <a:buFont typeface="Arial"/>
              <a:buChar char="•"/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CVE Mapping</a:t>
            </a:r>
          </a:p>
          <a:p>
            <a:pPr marL="373064" lvl="1" indent="-186532" algn="l">
              <a:lnSpc>
                <a:spcPts val="2419"/>
              </a:lnSpc>
              <a:buFont typeface="Arial"/>
              <a:buChar char="•"/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ML-Based Risk Prediction</a:t>
            </a:r>
          </a:p>
          <a:p>
            <a:pPr algn="l">
              <a:lnSpc>
                <a:spcPts val="2419"/>
              </a:lnSpc>
              <a:spcBef>
                <a:spcPct val="0"/>
              </a:spcBef>
            </a:pPr>
            <a:endParaRPr lang="en-US" sz="1727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833052" y="7163815"/>
            <a:ext cx="5393541" cy="391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7"/>
              </a:lnSpc>
              <a:spcBef>
                <a:spcPct val="0"/>
              </a:spcBef>
            </a:pPr>
            <a:r>
              <a:rPr lang="en-US" sz="230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Detect → Analyse → Assess → Report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4775" y="6366257"/>
            <a:ext cx="6301818" cy="52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Flow in simple words: </a:t>
            </a:r>
          </a:p>
        </p:txBody>
      </p:sp>
      <p:sp>
        <p:nvSpPr>
          <p:cNvPr id="20" name="TextBox 20"/>
          <p:cNvSpPr txBox="1"/>
          <p:nvPr/>
        </p:nvSpPr>
        <p:spPr>
          <a:xfrm rot="-5231768">
            <a:off x="82785" y="3363845"/>
            <a:ext cx="5421585" cy="209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907"/>
              </a:lnSpc>
              <a:spcBef>
                <a:spcPct val="0"/>
              </a:spcBef>
            </a:pPr>
            <a:r>
              <a:rPr lang="en-US" sz="11362" b="1" u="none" strike="noStrike" dirty="0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TRUST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790376" y="4943668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3"/>
                </a:lnTo>
                <a:lnTo>
                  <a:pt x="0" y="246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8909191" y="2062788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028700" y="861528"/>
            <a:ext cx="597518" cy="103605"/>
            <a:chOff x="0" y="0"/>
            <a:chExt cx="812800" cy="1409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66487" y="2727358"/>
            <a:ext cx="15962322" cy="5576836"/>
          </a:xfrm>
          <a:custGeom>
            <a:avLst/>
            <a:gdLst/>
            <a:ahLst/>
            <a:cxnLst/>
            <a:rect l="l" t="t" r="r" b="b"/>
            <a:pathLst>
              <a:path w="15962322" h="5576836">
                <a:moveTo>
                  <a:pt x="0" y="0"/>
                </a:moveTo>
                <a:lnTo>
                  <a:pt x="15962322" y="0"/>
                </a:lnTo>
                <a:lnTo>
                  <a:pt x="15962322" y="5576836"/>
                </a:lnTo>
                <a:lnTo>
                  <a:pt x="0" y="5576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31808"/>
            <a:ext cx="5483555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LITERATURE SURVEY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861B7-E7E9-DFD9-28EF-64BF3860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FAA3AE-9A08-5BBC-44F5-52E30A2CEBCA}"/>
              </a:ext>
            </a:extLst>
          </p:cNvPr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D87A69-9F84-6CFB-48C6-42DD5947C774}"/>
              </a:ext>
            </a:extLst>
          </p:cNvPr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99475D8-88C2-4B50-53A3-9ED051B17027}"/>
              </a:ext>
            </a:extLst>
          </p:cNvPr>
          <p:cNvSpPr/>
          <p:nvPr/>
        </p:nvSpPr>
        <p:spPr>
          <a:xfrm>
            <a:off x="14790376" y="4943668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3"/>
                </a:lnTo>
                <a:lnTo>
                  <a:pt x="0" y="246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5835689-565C-FAC5-DE42-28395B681F9C}"/>
              </a:ext>
            </a:extLst>
          </p:cNvPr>
          <p:cNvSpPr/>
          <p:nvPr/>
        </p:nvSpPr>
        <p:spPr>
          <a:xfrm>
            <a:off x="8909191" y="2062788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CE081F8-E3AE-53C2-CBFA-85EDD4F1FC9B}"/>
              </a:ext>
            </a:extLst>
          </p:cNvPr>
          <p:cNvGrpSpPr/>
          <p:nvPr/>
        </p:nvGrpSpPr>
        <p:grpSpPr>
          <a:xfrm>
            <a:off x="1028700" y="861528"/>
            <a:ext cx="597518" cy="103605"/>
            <a:chOff x="0" y="0"/>
            <a:chExt cx="812800" cy="14093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0D995A5-3BE7-AE3E-70DA-68EC7B64C15C}"/>
                </a:ext>
              </a:extLst>
            </p:cNvPr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8A603FB-C973-1998-8DCC-F850E7B4A662}"/>
                </a:ext>
              </a:extLst>
            </p:cNvPr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7F2FA415-9C41-B08C-4C7D-BE0CB600BB38}"/>
              </a:ext>
            </a:extLst>
          </p:cNvPr>
          <p:cNvSpPr txBox="1"/>
          <p:nvPr/>
        </p:nvSpPr>
        <p:spPr>
          <a:xfrm>
            <a:off x="993203" y="956308"/>
            <a:ext cx="5483555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EXISTING SYSTEM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3C0659-0AA4-F78D-9C3C-5EC9651CED3E}"/>
              </a:ext>
            </a:extLst>
          </p:cNvPr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2184F2F-647F-F49C-CC52-CDEC11111A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67E53AA-BF62-47F8-4EA6-F80381E62D1B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D9C51A49-AC60-013C-CD6B-8352CB658A5F}"/>
              </a:ext>
            </a:extLst>
          </p:cNvPr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9A39FE-9289-B901-5F57-ECABC3A56FBD}"/>
              </a:ext>
            </a:extLst>
          </p:cNvPr>
          <p:cNvSpPr txBox="1"/>
          <p:nvPr/>
        </p:nvSpPr>
        <p:spPr>
          <a:xfrm>
            <a:off x="1013460" y="1943100"/>
            <a:ext cx="131597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Separate tools for different security assessments.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Web and network vulnerabilities analyzed independently.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Mostly rule-based detection.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Limited automated risk prioritization.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Manual analysis of security reports is often required.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B0F0A63D-278E-B1A2-4B1C-5E830D7BF60E}"/>
              </a:ext>
            </a:extLst>
          </p:cNvPr>
          <p:cNvSpPr txBox="1"/>
          <p:nvPr/>
        </p:nvSpPr>
        <p:spPr>
          <a:xfrm>
            <a:off x="762000" y="6784562"/>
            <a:ext cx="14317980" cy="2616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37706" lvl="1" indent="-57150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+mj-lt"/>
                <a:ea typeface="Open Sans"/>
                <a:cs typeface="Open Sans"/>
                <a:sym typeface="Open Sans"/>
              </a:rPr>
              <a:t>Requires multiple specialized tools for cybersecurity assessment.</a:t>
            </a:r>
          </a:p>
          <a:p>
            <a:pPr marL="837706" lvl="1" indent="-57150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+mj-lt"/>
                <a:ea typeface="Open Sans"/>
                <a:cs typeface="Open Sans"/>
                <a:sym typeface="Open Sans"/>
              </a:rPr>
              <a:t>Raw technical outputs - difficult for non-experts to understand.</a:t>
            </a:r>
          </a:p>
          <a:p>
            <a:pPr marL="837706" lvl="1" indent="-57150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+mj-lt"/>
                <a:ea typeface="Open Sans"/>
                <a:cs typeface="Open Sans"/>
                <a:sym typeface="Open Sans"/>
              </a:rPr>
              <a:t>Vulnerability detection - not indicate risk or priority.</a:t>
            </a:r>
          </a:p>
          <a:p>
            <a:pPr marL="837706" lvl="1" indent="-57150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+mj-lt"/>
                <a:ea typeface="Open Sans"/>
                <a:cs typeface="Open Sans"/>
                <a:sym typeface="Open Sans"/>
              </a:rPr>
              <a:t>Security findings - fragmented across different assessment areas.</a:t>
            </a:r>
          </a:p>
        </p:txBody>
      </p:sp>
      <p:grpSp>
        <p:nvGrpSpPr>
          <p:cNvPr id="26" name="Group 6">
            <a:extLst>
              <a:ext uri="{FF2B5EF4-FFF2-40B4-BE49-F238E27FC236}">
                <a16:creationId xmlns:a16="http://schemas.microsoft.com/office/drawing/2014/main" id="{F09E2FF7-5D5D-D487-8C2A-B29BEBEBB1D0}"/>
              </a:ext>
            </a:extLst>
          </p:cNvPr>
          <p:cNvGrpSpPr/>
          <p:nvPr/>
        </p:nvGrpSpPr>
        <p:grpSpPr>
          <a:xfrm>
            <a:off x="1013460" y="5684466"/>
            <a:ext cx="597518" cy="103605"/>
            <a:chOff x="0" y="0"/>
            <a:chExt cx="812800" cy="140934"/>
          </a:xfrm>
        </p:grpSpPr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4240502F-D9C8-B122-96E1-FFA581DCC0E5}"/>
                </a:ext>
              </a:extLst>
            </p:cNvPr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98E5A78F-1819-87D9-A752-2A243BFD476E}"/>
                </a:ext>
              </a:extLst>
            </p:cNvPr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10">
            <a:extLst>
              <a:ext uri="{FF2B5EF4-FFF2-40B4-BE49-F238E27FC236}">
                <a16:creationId xmlns:a16="http://schemas.microsoft.com/office/drawing/2014/main" id="{C108D6D9-4B23-AE41-04C9-7E6B76C43A53}"/>
              </a:ext>
            </a:extLst>
          </p:cNvPr>
          <p:cNvSpPr txBox="1"/>
          <p:nvPr/>
        </p:nvSpPr>
        <p:spPr>
          <a:xfrm>
            <a:off x="993204" y="5736268"/>
            <a:ext cx="5483555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Problem statement </a:t>
            </a:r>
          </a:p>
        </p:txBody>
      </p:sp>
    </p:spTree>
    <p:extLst>
      <p:ext uri="{BB962C8B-B14F-4D97-AF65-F5344CB8AC3E}">
        <p14:creationId xmlns:p14="http://schemas.microsoft.com/office/powerpoint/2010/main" val="220518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8" name="Freeform 8"/>
          <p:cNvSpPr/>
          <p:nvPr/>
        </p:nvSpPr>
        <p:spPr>
          <a:xfrm>
            <a:off x="15970591" y="3909038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3" y="0"/>
                </a:lnTo>
                <a:lnTo>
                  <a:pt x="2468923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6141034" y="2484093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275777" y="1197416"/>
            <a:ext cx="5683261" cy="67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700" b="1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RESEARCH GAP/STUDY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75777" y="1055711"/>
            <a:ext cx="597518" cy="103605"/>
            <a:chOff x="0" y="0"/>
            <a:chExt cx="812800" cy="1409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24000" y="2138475"/>
            <a:ext cx="15849600" cy="2516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9263" lvl="1" indent="-249632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Existing research - focuses on individual security assessment techniques - often developed independently.</a:t>
            </a:r>
          </a:p>
          <a:p>
            <a:pPr marL="520853" lvl="1" indent="-260426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 integrated platform combining multiple security analyses with ML-based risk prediction - is needed.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7099" y="5077840"/>
            <a:ext cx="2537686" cy="67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700" b="1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OBJECTIVES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71859" y="4963695"/>
            <a:ext cx="597518" cy="103605"/>
            <a:chOff x="0" y="0"/>
            <a:chExt cx="812800" cy="1409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26885" y="5646196"/>
            <a:ext cx="11731915" cy="353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4" lvl="1" indent="-280667" algn="l">
              <a:lnSpc>
                <a:spcPct val="150000"/>
              </a:lnSpc>
              <a:buFont typeface="Arial"/>
              <a:buChar char="•"/>
            </a:pPr>
            <a:r>
              <a:rPr lang="en-US" sz="25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 the integrated cybersecurity platform SURAKSHA.</a:t>
            </a:r>
          </a:p>
          <a:p>
            <a:pPr marL="561334" lvl="1" indent="-280667" algn="l">
              <a:lnSpc>
                <a:spcPct val="150000"/>
              </a:lnSpc>
              <a:buFont typeface="Arial"/>
              <a:buChar char="•"/>
            </a:pPr>
            <a:r>
              <a:rPr lang="en-US" sz="25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Perform web vulnerability scanning and network reconnaissance.</a:t>
            </a:r>
          </a:p>
          <a:p>
            <a:pPr marL="561334" lvl="1" indent="-280667" algn="l">
              <a:lnSpc>
                <a:spcPct val="150000"/>
              </a:lnSpc>
              <a:buFont typeface="Arial"/>
              <a:buChar char="•"/>
            </a:pPr>
            <a:r>
              <a:rPr lang="en-US" sz="25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Analyze SSL/TLS security and network protocols.</a:t>
            </a:r>
          </a:p>
          <a:p>
            <a:pPr marL="561334" lvl="1" indent="-280667" algn="l">
              <a:lnSpc>
                <a:spcPct val="150000"/>
              </a:lnSpc>
              <a:buFont typeface="Arial"/>
              <a:buChar char="•"/>
            </a:pPr>
            <a:r>
              <a:rPr lang="en-US" sz="25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Map vulnerabilities to relevant CVE records.</a:t>
            </a:r>
          </a:p>
          <a:p>
            <a:pPr marL="561334" lvl="1" indent="-280667" algn="l">
              <a:lnSpc>
                <a:spcPct val="150000"/>
              </a:lnSpc>
              <a:buFont typeface="Arial"/>
              <a:buChar char="•"/>
            </a:pPr>
            <a:r>
              <a:rPr lang="en-US" sz="25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Predict security risk levels using machine learning.</a:t>
            </a:r>
          </a:p>
          <a:p>
            <a:pPr marL="561334" lvl="1" indent="-280667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5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Provide centralized, risk-based security findings.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799720"/>
            <a:ext cx="3762997" cy="67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7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PROPOSED SYSTEM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658015"/>
            <a:ext cx="597518" cy="103605"/>
            <a:chOff x="0" y="0"/>
            <a:chExt cx="812800" cy="1409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810905"/>
            <a:ext cx="16805723" cy="113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SURAKSHA is an integrated cybersecurity assessment platform that combines multiple security analysis techniques with Ml-based risk prediction.</a:t>
            </a:r>
          </a:p>
          <a:p>
            <a:pPr algn="l">
              <a:lnSpc>
                <a:spcPts val="2943"/>
              </a:lnSpc>
            </a:pPr>
            <a:endParaRPr lang="en-US" sz="27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839226"/>
            <a:ext cx="15964465" cy="540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3"/>
              </a:lnSpc>
            </a:pPr>
            <a:r>
              <a:rPr lang="en-US" sz="27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System includes :</a:t>
            </a:r>
          </a:p>
          <a:p>
            <a:pPr algn="l">
              <a:lnSpc>
                <a:spcPts val="4293"/>
              </a:lnSpc>
            </a:pPr>
            <a:endParaRPr lang="en-US" sz="27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Performs web vulnerability scanning for SQL Injection, XSS, security headers and sensitive paths.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Performs network reconnaissance using Nmap for ports, services and versions.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Checks SSL/TLS configuration and certificate details.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Performs protocol and service analysis.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Maps detected services and vulnerabilities to CVE information.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Uses Machine Learning to support risk prediction.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Stores scan results and vulnerabilities in a centralized SQLite database.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Generates reports with severity, risk, evidence and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id="8" name="Freeform 8"/>
          <p:cNvSpPr/>
          <p:nvPr/>
        </p:nvSpPr>
        <p:spPr>
          <a:xfrm>
            <a:off x="12205578" y="3102449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3" y="0"/>
                </a:lnTo>
                <a:lnTo>
                  <a:pt x="2468923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6305162" y="8266035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2148383" y="2275202"/>
            <a:ext cx="4971485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TECHNOLOGY STACK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148383" y="2104921"/>
            <a:ext cx="597518" cy="103605"/>
            <a:chOff x="0" y="0"/>
            <a:chExt cx="812800" cy="1409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14319" y="3689181"/>
            <a:ext cx="9354980" cy="1030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9"/>
              </a:lnSpc>
              <a:spcBef>
                <a:spcPct val="0"/>
              </a:spcBef>
            </a:pPr>
            <a:r>
              <a:rPr lang="en-US" sz="2971" b="1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: </a:t>
            </a:r>
            <a:r>
              <a:rPr lang="en-US" sz="29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HTML · CSS · JavaScript · Bootstrap</a:t>
            </a:r>
          </a:p>
          <a:p>
            <a:pPr algn="l">
              <a:lnSpc>
                <a:spcPts val="4159"/>
              </a:lnSpc>
              <a:spcBef>
                <a:spcPct val="0"/>
              </a:spcBef>
            </a:pPr>
            <a:endParaRPr lang="en-US" sz="297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114319" y="4481004"/>
            <a:ext cx="7307955" cy="1030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9"/>
              </a:lnSpc>
              <a:spcBef>
                <a:spcPct val="0"/>
              </a:spcBef>
            </a:pPr>
            <a:r>
              <a:rPr lang="en-US" sz="2971" b="1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: </a:t>
            </a:r>
            <a:r>
              <a:rPr lang="en-US" sz="29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Python · Flask</a:t>
            </a:r>
          </a:p>
          <a:p>
            <a:pPr algn="l">
              <a:lnSpc>
                <a:spcPts val="4159"/>
              </a:lnSpc>
              <a:spcBef>
                <a:spcPct val="0"/>
              </a:spcBef>
            </a:pPr>
            <a:endParaRPr lang="en-US" sz="297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169577" y="5268124"/>
            <a:ext cx="7307955" cy="1030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9"/>
              </a:lnSpc>
              <a:spcBef>
                <a:spcPct val="0"/>
              </a:spcBef>
            </a:pPr>
            <a:r>
              <a:rPr lang="en-US" sz="2971" b="1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Database : </a:t>
            </a:r>
            <a:r>
              <a:rPr lang="en-US" sz="29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SQLite3</a:t>
            </a:r>
          </a:p>
          <a:p>
            <a:pPr algn="l">
              <a:lnSpc>
                <a:spcPts val="4159"/>
              </a:lnSpc>
              <a:spcBef>
                <a:spcPct val="0"/>
              </a:spcBef>
            </a:pPr>
            <a:endParaRPr lang="en-US" sz="297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169577" y="6023137"/>
            <a:ext cx="11606607" cy="1585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4"/>
              </a:lnSpc>
              <a:spcBef>
                <a:spcPct val="0"/>
              </a:spcBef>
            </a:pPr>
            <a:r>
              <a:rPr lang="en-US" sz="3010" b="1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Machine Learning :</a:t>
            </a:r>
            <a:r>
              <a:rPr lang="en-US" sz="30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Scikit-learn · Joblib · Random Forest</a:t>
            </a:r>
          </a:p>
          <a:p>
            <a:pPr algn="just">
              <a:lnSpc>
                <a:spcPts val="4214"/>
              </a:lnSpc>
              <a:spcBef>
                <a:spcPct val="0"/>
              </a:spcBef>
            </a:pPr>
            <a:endParaRPr lang="en-US" sz="301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14"/>
              </a:lnSpc>
              <a:spcBef>
                <a:spcPct val="0"/>
              </a:spcBef>
            </a:pPr>
            <a:endParaRPr lang="en-US" sz="301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169577" y="6814940"/>
            <a:ext cx="11606607" cy="1585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4"/>
              </a:lnSpc>
              <a:spcBef>
                <a:spcPct val="0"/>
              </a:spcBef>
            </a:pPr>
            <a:r>
              <a:rPr lang="en-US" sz="3010" b="1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Security Tools : </a:t>
            </a:r>
            <a:r>
              <a:rPr lang="en-US" sz="30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Nmap · Python-Nmap · Requests</a:t>
            </a:r>
          </a:p>
          <a:p>
            <a:pPr algn="just">
              <a:lnSpc>
                <a:spcPts val="4214"/>
              </a:lnSpc>
              <a:spcBef>
                <a:spcPct val="0"/>
              </a:spcBef>
            </a:pPr>
            <a:endParaRPr lang="en-US" sz="301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14"/>
              </a:lnSpc>
              <a:spcBef>
                <a:spcPct val="0"/>
              </a:spcBef>
            </a:pPr>
            <a:endParaRPr lang="en-US" sz="301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100" y="925095"/>
            <a:ext cx="597518" cy="103605"/>
            <a:chOff x="0" y="0"/>
            <a:chExt cx="812800" cy="1409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763935" y="2592139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5149889" y="7483068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4" y="0"/>
                </a:lnTo>
                <a:lnTo>
                  <a:pt x="1565934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1073100" y="925095"/>
            <a:ext cx="597518" cy="103605"/>
            <a:chOff x="0" y="0"/>
            <a:chExt cx="812800" cy="1409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39108" y="1076325"/>
            <a:ext cx="5705010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CONTEXT DIAGRAM - LEVEL 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9D4A0B-8A79-5968-02BF-506475EDD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903" y="3431805"/>
            <a:ext cx="14654937" cy="35510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763935" y="2592139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149889" y="7483068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4" y="0"/>
                </a:lnTo>
                <a:lnTo>
                  <a:pt x="1565934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1073100" y="925095"/>
            <a:ext cx="597518" cy="103605"/>
            <a:chOff x="0" y="0"/>
            <a:chExt cx="812800" cy="1409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9108" y="1076325"/>
            <a:ext cx="5705010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USER - DFD - LEVEl 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E13CED-DC8B-8777-89D6-B072508B5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362563"/>
            <a:ext cx="13716000" cy="62865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690482" y="8660782"/>
            <a:ext cx="597518" cy="597518"/>
            <a:chOff x="0" y="0"/>
            <a:chExt cx="796690" cy="79669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96690" cy="796690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0000">
                      <a:alpha val="100000"/>
                    </a:srgbClr>
                  </a:gs>
                  <a:gs pos="100000">
                    <a:srgbClr val="5E0000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22552" y="260014"/>
              <a:ext cx="351586" cy="271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08992" y="1373754"/>
            <a:ext cx="6112540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ADMIN - DFD - LEVEL 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4A7F44-B50D-D79F-7270-5BC755FD5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552700"/>
            <a:ext cx="14173200" cy="57490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763935" y="2592139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149889" y="7483068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4" y="0"/>
                </a:lnTo>
                <a:lnTo>
                  <a:pt x="1565934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1073100" y="925095"/>
            <a:ext cx="597518" cy="103605"/>
            <a:chOff x="0" y="0"/>
            <a:chExt cx="812800" cy="1409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863133" y="2007651"/>
            <a:ext cx="13003453" cy="7509735"/>
          </a:xfrm>
          <a:custGeom>
            <a:avLst/>
            <a:gdLst/>
            <a:ahLst/>
            <a:cxnLst/>
            <a:rect l="l" t="t" r="r" b="b"/>
            <a:pathLst>
              <a:path w="13003453" h="7509735">
                <a:moveTo>
                  <a:pt x="0" y="0"/>
                </a:moveTo>
                <a:lnTo>
                  <a:pt x="13003453" y="0"/>
                </a:lnTo>
                <a:lnTo>
                  <a:pt x="13003453" y="7509735"/>
                </a:lnTo>
                <a:lnTo>
                  <a:pt x="0" y="75097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9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9108" y="1076325"/>
            <a:ext cx="570501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USER - ARCHITECTURAL  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3131450" y="2782849"/>
            <a:ext cx="12025100" cy="4721302"/>
          </a:xfrm>
          <a:custGeom>
            <a:avLst/>
            <a:gdLst/>
            <a:ahLst/>
            <a:cxnLst/>
            <a:rect l="l" t="t" r="r" b="b"/>
            <a:pathLst>
              <a:path w="12025100" h="4721302">
                <a:moveTo>
                  <a:pt x="0" y="0"/>
                </a:moveTo>
                <a:lnTo>
                  <a:pt x="12025100" y="0"/>
                </a:lnTo>
                <a:lnTo>
                  <a:pt x="12025100" y="4721302"/>
                </a:lnTo>
                <a:lnTo>
                  <a:pt x="0" y="472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17690482" y="8660782"/>
            <a:ext cx="597518" cy="597518"/>
            <a:chOff x="0" y="0"/>
            <a:chExt cx="796690" cy="79669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796690" cy="79669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0000">
                      <a:alpha val="100000"/>
                    </a:srgbClr>
                  </a:gs>
                  <a:gs pos="100000">
                    <a:srgbClr val="5E0000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22552" y="260014"/>
              <a:ext cx="351586" cy="271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08992" y="1373754"/>
            <a:ext cx="6112540" cy="718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ADMIN - ARCHITECTURAL  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8992" y="1373754"/>
            <a:ext cx="611254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DATABASE DESCRIPTION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61977" y="2461544"/>
            <a:ext cx="7526189" cy="39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00" b="1" spc="439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Tables : </a:t>
            </a:r>
            <a:r>
              <a:rPr lang="en-US" sz="2800" b="1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user,scan,vulnerability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6988" y="2461544"/>
            <a:ext cx="4959872" cy="39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00" b="1" spc="439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Schema : </a:t>
            </a:r>
            <a:r>
              <a:rPr lang="en-US" sz="2800" b="1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scanner.db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87478" y="3431748"/>
            <a:ext cx="7526189" cy="39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00" b="1" spc="439" dirty="0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table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0311923-2F58-CD76-BD53-41BEDFCFA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593040"/>
              </p:ext>
            </p:extLst>
          </p:nvPr>
        </p:nvGraphicFramePr>
        <p:xfrm>
          <a:off x="3009900" y="3909691"/>
          <a:ext cx="12268200" cy="370071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067050">
                  <a:extLst>
                    <a:ext uri="{9D8B030D-6E8A-4147-A177-3AD203B41FA5}">
                      <a16:colId xmlns:a16="http://schemas.microsoft.com/office/drawing/2014/main" val="775543503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1130539746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3841039656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551150023"/>
                    </a:ext>
                  </a:extLst>
                </a:gridCol>
              </a:tblGrid>
              <a:tr h="647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</a:rPr>
                        <a:t>Column Name</a:t>
                      </a:r>
                      <a:endParaRPr lang="en-IN" sz="2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</a:rPr>
                        <a:t>Data Type</a:t>
                      </a:r>
                      <a:endParaRPr lang="en-IN" sz="2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chemeClr val="tx1"/>
                          </a:solidFill>
                          <a:effectLst/>
                        </a:rPr>
                        <a:t>Constraints</a:t>
                      </a:r>
                      <a:endParaRPr lang="en-IN" sz="24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2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10893"/>
                  </a:ext>
                </a:extLst>
              </a:tr>
              <a:tr h="76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INTEGER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PRIMARY KEY, NOT NULL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Unique user ID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02422"/>
                  </a:ext>
                </a:extLst>
              </a:tr>
              <a:tr h="647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username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VARCHAR(100)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User's name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86036"/>
                  </a:ext>
                </a:extLst>
              </a:tr>
              <a:tr h="76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email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VARCHAR(120)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NOT NULL, UNIQUE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User's email address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538716"/>
                  </a:ext>
                </a:extLst>
              </a:tr>
              <a:tr h="76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password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VARCHAR(255)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User's password or password hash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8090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6005" y="1257300"/>
            <a:ext cx="7526189" cy="39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00" b="1" spc="439" dirty="0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scans table</a:t>
            </a:r>
          </a:p>
        </p:txBody>
      </p:sp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5A78C482-D41D-488B-C417-B2C8625F1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706361"/>
              </p:ext>
            </p:extLst>
          </p:nvPr>
        </p:nvGraphicFramePr>
        <p:xfrm>
          <a:off x="1486005" y="1760870"/>
          <a:ext cx="15316200" cy="67652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82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849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Column Name</a:t>
                      </a:r>
                      <a:endParaRPr lang="en-US" sz="1100" dirty="0"/>
                    </a:p>
                  </a:txBody>
                  <a:tcPr marL="88803" marR="88803" marT="88803" marB="88803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Data Type</a:t>
                      </a:r>
                      <a:endParaRPr lang="en-US" sz="1100"/>
                    </a:p>
                  </a:txBody>
                  <a:tcPr marL="88803" marR="88803" marT="88803" marB="88803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Constraints</a:t>
                      </a:r>
                      <a:endParaRPr lang="en-US" sz="1100"/>
                    </a:p>
                  </a:txBody>
                  <a:tcPr marL="88803" marR="88803" marT="88803" marB="88803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Description</a:t>
                      </a:r>
                      <a:endParaRPr lang="en-US" sz="1100" dirty="0"/>
                    </a:p>
                  </a:txBody>
                  <a:tcPr marL="88803" marR="88803" marT="88803" marB="88803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849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id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INTEGER</a:t>
                      </a:r>
                      <a:endParaRPr lang="en-US" sz="1100" dirty="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PRIMARY KEY, NOT NULL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Unique scan ID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849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target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VARCHAR(255)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NOT NULL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Scanned target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849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scan_type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VARCHAR(100)</a:t>
                      </a:r>
                      <a:endParaRPr lang="en-US" sz="1100" dirty="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NOT NULL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Type of scan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849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severity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VARCHAR(50)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NOT NULL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Overall scan severity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849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status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VARCHAR(50)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NULLABLE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Scan status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849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open_ports</a:t>
                      </a:r>
                      <a:endParaRPr lang="en-US" sz="1100" dirty="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NULLABLE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Number of open ports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6236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details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TEXT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NULLABLE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Scan results and additional information</a:t>
                      </a:r>
                      <a:endParaRPr lang="en-US" sz="1100" dirty="0"/>
                    </a:p>
                  </a:txBody>
                  <a:tcPr marL="88803" marR="88803" marT="88803" marB="8880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06236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user_id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NOT NULL, FOREIGN KEY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ID of the user who performed the scan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6236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created_at</a:t>
                      </a:r>
                      <a:endParaRPr lang="en-US" sz="1100" dirty="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DATETIME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NULLABLE</a:t>
                      </a:r>
                      <a:endParaRPr lang="en-US" sz="1100"/>
                    </a:p>
                  </a:txBody>
                  <a:tcPr marL="88803" marR="88803" marT="88803" marB="8880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Scan creation date and time</a:t>
                      </a:r>
                      <a:endParaRPr lang="en-US" sz="1100" dirty="0"/>
                    </a:p>
                  </a:txBody>
                  <a:tcPr marL="88803" marR="88803" marT="88803" marB="88803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02990" y="1412617"/>
            <a:ext cx="7526189" cy="39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00" b="1" spc="439" dirty="0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vulnerability table</a:t>
            </a:r>
          </a:p>
        </p:txBody>
      </p:sp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4ADA3E99-30D2-CE37-CFA8-58DB38F90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287817"/>
              </p:ext>
            </p:extLst>
          </p:nvPr>
        </p:nvGraphicFramePr>
        <p:xfrm>
          <a:off x="1790700" y="1937736"/>
          <a:ext cx="14706600" cy="6936647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541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Column Name</a:t>
                      </a:r>
                      <a:endParaRPr lang="en-US" sz="1100"/>
                    </a:p>
                  </a:txBody>
                  <a:tcPr marL="85320" marR="85320" marT="85320" marB="8532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Data Type</a:t>
                      </a:r>
                      <a:endParaRPr lang="en-US" sz="1100" dirty="0"/>
                    </a:p>
                  </a:txBody>
                  <a:tcPr marL="85320" marR="85320" marT="85320" marB="8532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Constraints</a:t>
                      </a:r>
                      <a:endParaRPr lang="en-US" sz="1100"/>
                    </a:p>
                  </a:txBody>
                  <a:tcPr marL="85320" marR="85320" marT="85320" marB="8532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Description</a:t>
                      </a:r>
                      <a:endParaRPr lang="en-US" sz="1100" dirty="0"/>
                    </a:p>
                  </a:txBody>
                  <a:tcPr marL="85320" marR="85320" marT="85320" marB="8532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541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id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PRIMARY KEY, NOT NULL</a:t>
                      </a:r>
                      <a:endParaRPr lang="en-US" sz="1100" dirty="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Unique vulnerability ID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541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port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NOT NULL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Affected port number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541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service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VARCHAR(100)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NOT NULL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Network service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541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protocol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VARCHAR(50)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NULLABLE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Network protocol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0697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vulnerability_name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VARCHAR(255)</a:t>
                      </a:r>
                      <a:endParaRPr lang="en-US" sz="1100" dirty="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NOT NULL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Name of the vulnerability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541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cve_id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VARCHAR(100)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NULLABLE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CVE identifier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541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severity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VARCHAR(50)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NOT NULL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Vulnerability severity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541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attack_type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VARCHAR(255)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NULLABLE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Type of attack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7541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description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TEXT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NULLABLE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Vulnerability description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7541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recommendation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TEXT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NULLABLE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Recommended solution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97541"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scan_id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sym typeface="Calibri (MS)"/>
                        </a:rPr>
                        <a:t>NULLABLE, FOREIGN KEY</a:t>
                      </a:r>
                      <a:endParaRPr lang="en-US" sz="1100"/>
                    </a:p>
                  </a:txBody>
                  <a:tcPr marL="85320" marR="85320" marT="85320" marB="85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dirty="0">
                          <a:solidFill>
                            <a:srgbClr val="000000"/>
                          </a:solidFill>
                          <a:sym typeface="Calibri (MS)"/>
                        </a:rPr>
                        <a:t>Associated scan ID</a:t>
                      </a:r>
                      <a:endParaRPr lang="en-US" sz="1100" dirty="0"/>
                    </a:p>
                  </a:txBody>
                  <a:tcPr marL="85320" marR="85320" marT="85320" marB="8532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619825" y="4681787"/>
            <a:ext cx="1545437" cy="1828920"/>
          </a:xfrm>
          <a:custGeom>
            <a:avLst/>
            <a:gdLst/>
            <a:ahLst/>
            <a:cxnLst/>
            <a:rect l="l" t="t" r="r" b="b"/>
            <a:pathLst>
              <a:path w="1545437" h="1828920">
                <a:moveTo>
                  <a:pt x="0" y="0"/>
                </a:moveTo>
                <a:lnTo>
                  <a:pt x="1545437" y="0"/>
                </a:lnTo>
                <a:lnTo>
                  <a:pt x="1545437" y="1828920"/>
                </a:lnTo>
                <a:lnTo>
                  <a:pt x="0" y="1828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V="1">
            <a:off x="4408832" y="4486564"/>
            <a:ext cx="5716377" cy="131675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>
            <a:off x="4401074" y="5820715"/>
            <a:ext cx="5724134" cy="85954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10125208" y="3886814"/>
            <a:ext cx="4844680" cy="1199499"/>
            <a:chOff x="0" y="0"/>
            <a:chExt cx="2132563" cy="5280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32563" cy="528004"/>
            </a:xfrm>
            <a:custGeom>
              <a:avLst/>
              <a:gdLst/>
              <a:ahLst/>
              <a:cxnLst/>
              <a:rect l="l" t="t" r="r" b="b"/>
              <a:pathLst>
                <a:path w="2132563" h="528004">
                  <a:moveTo>
                    <a:pt x="1066281" y="0"/>
                  </a:moveTo>
                  <a:cubicBezTo>
                    <a:pt x="477390" y="0"/>
                    <a:pt x="0" y="118198"/>
                    <a:pt x="0" y="264002"/>
                  </a:cubicBezTo>
                  <a:cubicBezTo>
                    <a:pt x="0" y="409806"/>
                    <a:pt x="477390" y="528004"/>
                    <a:pt x="1066281" y="528004"/>
                  </a:cubicBezTo>
                  <a:cubicBezTo>
                    <a:pt x="1655172" y="528004"/>
                    <a:pt x="2132563" y="409806"/>
                    <a:pt x="2132563" y="264002"/>
                  </a:cubicBezTo>
                  <a:cubicBezTo>
                    <a:pt x="2132563" y="118198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9928" y="11400"/>
              <a:ext cx="1732707" cy="46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 Management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08992" y="1373754"/>
            <a:ext cx="611254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MODULE DESCRIPTION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52797" y="6746618"/>
            <a:ext cx="1412465" cy="433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Admin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125208" y="6108768"/>
            <a:ext cx="4844680" cy="1199499"/>
            <a:chOff x="0" y="0"/>
            <a:chExt cx="2132563" cy="5280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32563" cy="528004"/>
            </a:xfrm>
            <a:custGeom>
              <a:avLst/>
              <a:gdLst/>
              <a:ahLst/>
              <a:cxnLst/>
              <a:rect l="l" t="t" r="r" b="b"/>
              <a:pathLst>
                <a:path w="2132563" h="528004">
                  <a:moveTo>
                    <a:pt x="1066281" y="0"/>
                  </a:moveTo>
                  <a:cubicBezTo>
                    <a:pt x="477390" y="0"/>
                    <a:pt x="0" y="118198"/>
                    <a:pt x="0" y="264002"/>
                  </a:cubicBezTo>
                  <a:cubicBezTo>
                    <a:pt x="0" y="409806"/>
                    <a:pt x="477390" y="528004"/>
                    <a:pt x="1066281" y="528004"/>
                  </a:cubicBezTo>
                  <a:cubicBezTo>
                    <a:pt x="1655172" y="528004"/>
                    <a:pt x="2132563" y="409806"/>
                    <a:pt x="2132563" y="264002"/>
                  </a:cubicBezTo>
                  <a:cubicBezTo>
                    <a:pt x="2132563" y="118198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9928" y="11400"/>
              <a:ext cx="1732707" cy="46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Handle reports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2619825" y="4681787"/>
            <a:ext cx="1545437" cy="1828920"/>
          </a:xfrm>
          <a:custGeom>
            <a:avLst/>
            <a:gdLst/>
            <a:ahLst/>
            <a:cxnLst/>
            <a:rect l="l" t="t" r="r" b="b"/>
            <a:pathLst>
              <a:path w="1545437" h="1828920">
                <a:moveTo>
                  <a:pt x="0" y="0"/>
                </a:moveTo>
                <a:lnTo>
                  <a:pt x="1545437" y="0"/>
                </a:lnTo>
                <a:lnTo>
                  <a:pt x="1545437" y="1828920"/>
                </a:lnTo>
                <a:lnTo>
                  <a:pt x="0" y="1828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 flipV="1">
            <a:off x="4415682" y="3316393"/>
            <a:ext cx="5862683" cy="250548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6" name="AutoShape 6"/>
          <p:cNvSpPr/>
          <p:nvPr/>
        </p:nvSpPr>
        <p:spPr>
          <a:xfrm>
            <a:off x="4401074" y="5820715"/>
            <a:ext cx="5982543" cy="99048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0278365" y="2716643"/>
            <a:ext cx="3889223" cy="962937"/>
            <a:chOff x="0" y="0"/>
            <a:chExt cx="2132563" cy="5280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2563" cy="528004"/>
            </a:xfrm>
            <a:custGeom>
              <a:avLst/>
              <a:gdLst/>
              <a:ahLst/>
              <a:cxnLst/>
              <a:rect l="l" t="t" r="r" b="b"/>
              <a:pathLst>
                <a:path w="2132563" h="528004">
                  <a:moveTo>
                    <a:pt x="1066281" y="0"/>
                  </a:moveTo>
                  <a:cubicBezTo>
                    <a:pt x="477390" y="0"/>
                    <a:pt x="0" y="118198"/>
                    <a:pt x="0" y="264002"/>
                  </a:cubicBezTo>
                  <a:cubicBezTo>
                    <a:pt x="0" y="409806"/>
                    <a:pt x="477390" y="528004"/>
                    <a:pt x="1066281" y="528004"/>
                  </a:cubicBezTo>
                  <a:cubicBezTo>
                    <a:pt x="1655172" y="528004"/>
                    <a:pt x="2132563" y="409806"/>
                    <a:pt x="2132563" y="264002"/>
                  </a:cubicBezTo>
                  <a:cubicBezTo>
                    <a:pt x="2132563" y="118198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928" y="11400"/>
              <a:ext cx="1732707" cy="46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Web Vulnerability Scanning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383617" y="6355795"/>
            <a:ext cx="3678718" cy="910818"/>
            <a:chOff x="0" y="0"/>
            <a:chExt cx="2132563" cy="5280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32563" cy="528004"/>
            </a:xfrm>
            <a:custGeom>
              <a:avLst/>
              <a:gdLst/>
              <a:ahLst/>
              <a:cxnLst/>
              <a:rect l="l" t="t" r="r" b="b"/>
              <a:pathLst>
                <a:path w="2132563" h="528004">
                  <a:moveTo>
                    <a:pt x="1066281" y="0"/>
                  </a:moveTo>
                  <a:cubicBezTo>
                    <a:pt x="477390" y="0"/>
                    <a:pt x="0" y="118198"/>
                    <a:pt x="0" y="264002"/>
                  </a:cubicBezTo>
                  <a:cubicBezTo>
                    <a:pt x="0" y="409806"/>
                    <a:pt x="477390" y="528004"/>
                    <a:pt x="1066281" y="528004"/>
                  </a:cubicBezTo>
                  <a:cubicBezTo>
                    <a:pt x="1655172" y="528004"/>
                    <a:pt x="2132563" y="409806"/>
                    <a:pt x="2132563" y="264002"/>
                  </a:cubicBezTo>
                  <a:cubicBezTo>
                    <a:pt x="2132563" y="118198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9928" y="11400"/>
              <a:ext cx="1732707" cy="46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View reports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4411406" y="1854453"/>
            <a:ext cx="5862683" cy="395025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14" name="Group 14"/>
          <p:cNvGrpSpPr/>
          <p:nvPr/>
        </p:nvGrpSpPr>
        <p:grpSpPr>
          <a:xfrm>
            <a:off x="10359926" y="3941334"/>
            <a:ext cx="3807662" cy="942743"/>
            <a:chOff x="0" y="0"/>
            <a:chExt cx="2132563" cy="5280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32563" cy="528004"/>
            </a:xfrm>
            <a:custGeom>
              <a:avLst/>
              <a:gdLst/>
              <a:ahLst/>
              <a:cxnLst/>
              <a:rect l="l" t="t" r="r" b="b"/>
              <a:pathLst>
                <a:path w="2132563" h="528004">
                  <a:moveTo>
                    <a:pt x="1066281" y="0"/>
                  </a:moveTo>
                  <a:cubicBezTo>
                    <a:pt x="477390" y="0"/>
                    <a:pt x="0" y="118198"/>
                    <a:pt x="0" y="264002"/>
                  </a:cubicBezTo>
                  <a:cubicBezTo>
                    <a:pt x="0" y="409806"/>
                    <a:pt x="477390" y="528004"/>
                    <a:pt x="1066281" y="528004"/>
                  </a:cubicBezTo>
                  <a:cubicBezTo>
                    <a:pt x="1655172" y="528004"/>
                    <a:pt x="2132563" y="409806"/>
                    <a:pt x="2132563" y="264002"/>
                  </a:cubicBezTo>
                  <a:cubicBezTo>
                    <a:pt x="2132563" y="118198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9928" y="11400"/>
              <a:ext cx="1732707" cy="46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SSL/TLS Security Analysis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4415682" y="4412706"/>
            <a:ext cx="5944244" cy="140917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10278365" y="1398604"/>
            <a:ext cx="3682274" cy="911698"/>
            <a:chOff x="0" y="0"/>
            <a:chExt cx="2132563" cy="5280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32563" cy="528004"/>
            </a:xfrm>
            <a:custGeom>
              <a:avLst/>
              <a:gdLst/>
              <a:ahLst/>
              <a:cxnLst/>
              <a:rect l="l" t="t" r="r" b="b"/>
              <a:pathLst>
                <a:path w="2132563" h="528004">
                  <a:moveTo>
                    <a:pt x="1066281" y="0"/>
                  </a:moveTo>
                  <a:cubicBezTo>
                    <a:pt x="477390" y="0"/>
                    <a:pt x="0" y="118198"/>
                    <a:pt x="0" y="264002"/>
                  </a:cubicBezTo>
                  <a:cubicBezTo>
                    <a:pt x="0" y="409806"/>
                    <a:pt x="477390" y="528004"/>
                    <a:pt x="1066281" y="528004"/>
                  </a:cubicBezTo>
                  <a:cubicBezTo>
                    <a:pt x="1655172" y="528004"/>
                    <a:pt x="2132563" y="409806"/>
                    <a:pt x="2132563" y="264002"/>
                  </a:cubicBezTo>
                  <a:cubicBezTo>
                    <a:pt x="2132563" y="118198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928" y="11400"/>
              <a:ext cx="1732707" cy="46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Network Reconnaissance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flipV="1">
            <a:off x="4415682" y="5596247"/>
            <a:ext cx="5944244" cy="22563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2" name="Group 22"/>
          <p:cNvGrpSpPr/>
          <p:nvPr/>
        </p:nvGrpSpPr>
        <p:grpSpPr>
          <a:xfrm>
            <a:off x="10347732" y="5136163"/>
            <a:ext cx="3807662" cy="962457"/>
            <a:chOff x="0" y="0"/>
            <a:chExt cx="2132563" cy="53904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32563" cy="539045"/>
            </a:xfrm>
            <a:custGeom>
              <a:avLst/>
              <a:gdLst/>
              <a:ahLst/>
              <a:cxnLst/>
              <a:rect l="l" t="t" r="r" b="b"/>
              <a:pathLst>
                <a:path w="2132563" h="539045">
                  <a:moveTo>
                    <a:pt x="1066281" y="0"/>
                  </a:moveTo>
                  <a:cubicBezTo>
                    <a:pt x="477390" y="0"/>
                    <a:pt x="0" y="120669"/>
                    <a:pt x="0" y="269522"/>
                  </a:cubicBezTo>
                  <a:cubicBezTo>
                    <a:pt x="0" y="418375"/>
                    <a:pt x="477390" y="539045"/>
                    <a:pt x="1066281" y="539045"/>
                  </a:cubicBezTo>
                  <a:cubicBezTo>
                    <a:pt x="1655172" y="539045"/>
                    <a:pt x="2132563" y="418375"/>
                    <a:pt x="2132563" y="269522"/>
                  </a:cubicBezTo>
                  <a:cubicBezTo>
                    <a:pt x="2132563" y="120669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9928" y="12435"/>
              <a:ext cx="1732707" cy="476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Protocol Analysis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&amp; CVE Mapping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4406759" y="5822892"/>
            <a:ext cx="5940972" cy="218675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6" name="Group 26"/>
          <p:cNvGrpSpPr/>
          <p:nvPr/>
        </p:nvGrpSpPr>
        <p:grpSpPr>
          <a:xfrm>
            <a:off x="10347732" y="7528419"/>
            <a:ext cx="3678718" cy="962457"/>
            <a:chOff x="0" y="0"/>
            <a:chExt cx="2132563" cy="55793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32563" cy="557939"/>
            </a:xfrm>
            <a:custGeom>
              <a:avLst/>
              <a:gdLst/>
              <a:ahLst/>
              <a:cxnLst/>
              <a:rect l="l" t="t" r="r" b="b"/>
              <a:pathLst>
                <a:path w="2132563" h="557939">
                  <a:moveTo>
                    <a:pt x="1066281" y="0"/>
                  </a:moveTo>
                  <a:cubicBezTo>
                    <a:pt x="477390" y="0"/>
                    <a:pt x="0" y="124899"/>
                    <a:pt x="0" y="278969"/>
                  </a:cubicBezTo>
                  <a:cubicBezTo>
                    <a:pt x="0" y="433040"/>
                    <a:pt x="477390" y="557939"/>
                    <a:pt x="1066281" y="557939"/>
                  </a:cubicBezTo>
                  <a:cubicBezTo>
                    <a:pt x="1655172" y="557939"/>
                    <a:pt x="2132563" y="433040"/>
                    <a:pt x="2132563" y="278969"/>
                  </a:cubicBezTo>
                  <a:cubicBezTo>
                    <a:pt x="2132563" y="124899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9928" y="14207"/>
              <a:ext cx="1732707" cy="491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Access Remediation Recommendations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752797" y="6718362"/>
            <a:ext cx="1412465" cy="433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5" y="6819900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192843" y="7397756"/>
            <a:ext cx="1017916" cy="464683"/>
          </a:xfrm>
          <a:custGeom>
            <a:avLst/>
            <a:gdLst/>
            <a:ahLst/>
            <a:cxnLst/>
            <a:rect l="l" t="t" r="r" b="b"/>
            <a:pathLst>
              <a:path w="1017916" h="464683">
                <a:moveTo>
                  <a:pt x="0" y="0"/>
                </a:moveTo>
                <a:lnTo>
                  <a:pt x="1017917" y="0"/>
                </a:lnTo>
                <a:lnTo>
                  <a:pt x="1017917" y="464682"/>
                </a:lnTo>
                <a:lnTo>
                  <a:pt x="0" y="464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7027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2840548" y="7397756"/>
            <a:ext cx="1012428" cy="464683"/>
          </a:xfrm>
          <a:custGeom>
            <a:avLst/>
            <a:gdLst/>
            <a:ahLst/>
            <a:cxnLst/>
            <a:rect l="l" t="t" r="r" b="b"/>
            <a:pathLst>
              <a:path w="1012428" h="464683">
                <a:moveTo>
                  <a:pt x="0" y="0"/>
                </a:moveTo>
                <a:lnTo>
                  <a:pt x="1012428" y="0"/>
                </a:lnTo>
                <a:lnTo>
                  <a:pt x="1012428" y="464682"/>
                </a:lnTo>
                <a:lnTo>
                  <a:pt x="0" y="464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7398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4371530" y="7397756"/>
            <a:ext cx="908753" cy="464683"/>
          </a:xfrm>
          <a:custGeom>
            <a:avLst/>
            <a:gdLst/>
            <a:ahLst/>
            <a:cxnLst/>
            <a:rect l="l" t="t" r="r" b="b"/>
            <a:pathLst>
              <a:path w="908753" h="464683">
                <a:moveTo>
                  <a:pt x="0" y="0"/>
                </a:moveTo>
                <a:lnTo>
                  <a:pt x="908753" y="0"/>
                </a:lnTo>
                <a:lnTo>
                  <a:pt x="908753" y="464682"/>
                </a:lnTo>
                <a:lnTo>
                  <a:pt x="0" y="464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880354" b="-1363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5794633" y="7397756"/>
            <a:ext cx="917210" cy="464683"/>
          </a:xfrm>
          <a:custGeom>
            <a:avLst/>
            <a:gdLst/>
            <a:ahLst/>
            <a:cxnLst/>
            <a:rect l="l" t="t" r="r" b="b"/>
            <a:pathLst>
              <a:path w="917210" h="464683">
                <a:moveTo>
                  <a:pt x="0" y="0"/>
                </a:moveTo>
                <a:lnTo>
                  <a:pt x="917210" y="0"/>
                </a:lnTo>
                <a:lnTo>
                  <a:pt x="917210" y="464682"/>
                </a:lnTo>
                <a:lnTo>
                  <a:pt x="0" y="464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871314" b="-1363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8992" y="1373754"/>
            <a:ext cx="611254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RISK PREDICTION MODULE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2121" y="2772145"/>
            <a:ext cx="441317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ALGORITHM &amp; CONFIGURATION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48706" y="6925608"/>
            <a:ext cx="2679144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 CLASS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38935" y="7962900"/>
            <a:ext cx="712232" cy="370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2ECC7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21622" y="7960119"/>
            <a:ext cx="1306113" cy="370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C7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medium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520749" y="7962900"/>
            <a:ext cx="759533" cy="370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57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73297" y="7909326"/>
            <a:ext cx="959882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565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6117E5D-985A-4A85-A6C6-34D17F771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100084"/>
              </p:ext>
            </p:extLst>
          </p:nvPr>
        </p:nvGraphicFramePr>
        <p:xfrm>
          <a:off x="1219200" y="3452562"/>
          <a:ext cx="8996677" cy="520865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440084">
                  <a:extLst>
                    <a:ext uri="{9D8B030D-6E8A-4147-A177-3AD203B41FA5}">
                      <a16:colId xmlns:a16="http://schemas.microsoft.com/office/drawing/2014/main" val="3723354562"/>
                    </a:ext>
                  </a:extLst>
                </a:gridCol>
                <a:gridCol w="4556593">
                  <a:extLst>
                    <a:ext uri="{9D8B030D-6E8A-4147-A177-3AD203B41FA5}">
                      <a16:colId xmlns:a16="http://schemas.microsoft.com/office/drawing/2014/main" val="2356554290"/>
                    </a:ext>
                  </a:extLst>
                </a:gridCol>
              </a:tblGrid>
              <a:tr h="628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PARAMETER</a:t>
                      </a:r>
                    </a:p>
                  </a:txBody>
                  <a:tcPr marL="79522" marR="79522" marT="39761" marB="39761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VALUE</a:t>
                      </a:r>
                    </a:p>
                  </a:txBody>
                  <a:tcPr marL="79522" marR="79522" marT="39761" marB="39761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625669"/>
                  </a:ext>
                </a:extLst>
              </a:tr>
              <a:tr h="628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Algorithm</a:t>
                      </a:r>
                    </a:p>
                  </a:txBody>
                  <a:tcPr marL="79522" marR="79522" marT="39761" marB="397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Random Forest</a:t>
                      </a:r>
                    </a:p>
                  </a:txBody>
                  <a:tcPr marL="79522" marR="79522" marT="39761" marB="39761" anchor="ctr"/>
                </a:tc>
                <a:extLst>
                  <a:ext uri="{0D108BD9-81ED-4DB2-BD59-A6C34878D82A}">
                    <a16:rowId xmlns:a16="http://schemas.microsoft.com/office/drawing/2014/main" val="3997443021"/>
                  </a:ext>
                </a:extLst>
              </a:tr>
              <a:tr h="628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Number of Trees (n_estimators)</a:t>
                      </a:r>
                    </a:p>
                  </a:txBody>
                  <a:tcPr marL="79522" marR="79522" marT="39761" marB="397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200</a:t>
                      </a:r>
                    </a:p>
                  </a:txBody>
                  <a:tcPr marL="79522" marR="79522" marT="39761" marB="39761" anchor="ctr"/>
                </a:tc>
                <a:extLst>
                  <a:ext uri="{0D108BD9-81ED-4DB2-BD59-A6C34878D82A}">
                    <a16:rowId xmlns:a16="http://schemas.microsoft.com/office/drawing/2014/main" val="1887098929"/>
                  </a:ext>
                </a:extLst>
              </a:tr>
              <a:tr h="628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Maximum Tree Depth (max_depth)</a:t>
                      </a:r>
                    </a:p>
                  </a:txBody>
                  <a:tcPr marL="79522" marR="79522" marT="39761" marB="397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10</a:t>
                      </a:r>
                    </a:p>
                  </a:txBody>
                  <a:tcPr marL="79522" marR="79522" marT="39761" marB="39761" anchor="ctr"/>
                </a:tc>
                <a:extLst>
                  <a:ext uri="{0D108BD9-81ED-4DB2-BD59-A6C34878D82A}">
                    <a16:rowId xmlns:a16="http://schemas.microsoft.com/office/drawing/2014/main" val="636211089"/>
                  </a:ext>
                </a:extLst>
              </a:tr>
              <a:tr h="628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Random State</a:t>
                      </a:r>
                    </a:p>
                  </a:txBody>
                  <a:tcPr marL="79522" marR="79522" marT="39761" marB="397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42</a:t>
                      </a:r>
                    </a:p>
                  </a:txBody>
                  <a:tcPr marL="79522" marR="79522" marT="39761" marB="39761" anchor="ctr"/>
                </a:tc>
                <a:extLst>
                  <a:ext uri="{0D108BD9-81ED-4DB2-BD59-A6C34878D82A}">
                    <a16:rowId xmlns:a16="http://schemas.microsoft.com/office/drawing/2014/main" val="3733665382"/>
                  </a:ext>
                </a:extLst>
              </a:tr>
              <a:tr h="628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Test Size</a:t>
                      </a:r>
                    </a:p>
                  </a:txBody>
                  <a:tcPr marL="79522" marR="79522" marT="39761" marB="397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20%</a:t>
                      </a:r>
                    </a:p>
                  </a:txBody>
                  <a:tcPr marL="79522" marR="79522" marT="39761" marB="39761" anchor="ctr"/>
                </a:tc>
                <a:extLst>
                  <a:ext uri="{0D108BD9-81ED-4DB2-BD59-A6C34878D82A}">
                    <a16:rowId xmlns:a16="http://schemas.microsoft.com/office/drawing/2014/main" val="1185618806"/>
                  </a:ext>
                </a:extLst>
              </a:tr>
              <a:tr h="628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Number of Input Features</a:t>
                      </a:r>
                    </a:p>
                  </a:txBody>
                  <a:tcPr marL="79522" marR="79522" marT="39761" marB="397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marL="79522" marR="79522" marT="39761" marB="39761" anchor="ctr"/>
                </a:tc>
                <a:extLst>
                  <a:ext uri="{0D108BD9-81ED-4DB2-BD59-A6C34878D82A}">
                    <a16:rowId xmlns:a16="http://schemas.microsoft.com/office/drawing/2014/main" val="1180169160"/>
                  </a:ext>
                </a:extLst>
              </a:tr>
              <a:tr h="628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Output Classes</a:t>
                      </a:r>
                    </a:p>
                  </a:txBody>
                  <a:tcPr marL="79522" marR="79522" marT="39761" marB="397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4</a:t>
                      </a:r>
                    </a:p>
                  </a:txBody>
                  <a:tcPr marL="79522" marR="79522" marT="39761" marB="39761" anchor="ctr"/>
                </a:tc>
                <a:extLst>
                  <a:ext uri="{0D108BD9-81ED-4DB2-BD59-A6C34878D82A}">
                    <a16:rowId xmlns:a16="http://schemas.microsoft.com/office/drawing/2014/main" val="3371702532"/>
                  </a:ext>
                </a:extLst>
              </a:tr>
            </a:tbl>
          </a:graphicData>
        </a:graphic>
      </p:graphicFrame>
      <p:sp>
        <p:nvSpPr>
          <p:cNvPr id="15" name="TextBox 19">
            <a:extLst>
              <a:ext uri="{FF2B5EF4-FFF2-40B4-BE49-F238E27FC236}">
                <a16:creationId xmlns:a16="http://schemas.microsoft.com/office/drawing/2014/main" id="{1DA7B9BE-8C59-E8D9-B624-FC812C86B7DC}"/>
              </a:ext>
            </a:extLst>
          </p:cNvPr>
          <p:cNvSpPr txBox="1"/>
          <p:nvPr/>
        </p:nvSpPr>
        <p:spPr>
          <a:xfrm>
            <a:off x="11148706" y="2776144"/>
            <a:ext cx="2679144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INPUTS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3BDA391E-94CA-E395-7FCC-B70DD8D5DCE5}"/>
              </a:ext>
            </a:extLst>
          </p:cNvPr>
          <p:cNvSpPr txBox="1"/>
          <p:nvPr/>
        </p:nvSpPr>
        <p:spPr>
          <a:xfrm>
            <a:off x="11399793" y="3124238"/>
            <a:ext cx="4555534" cy="3266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missing_headers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sensitive_paths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sql_indicators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xss_indicators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https_disabled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server_disclosure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08992" y="2270374"/>
            <a:ext cx="8228873" cy="4211469"/>
          </a:xfrm>
          <a:custGeom>
            <a:avLst/>
            <a:gdLst/>
            <a:ahLst/>
            <a:cxnLst/>
            <a:rect l="l" t="t" r="r" b="b"/>
            <a:pathLst>
              <a:path w="8228873" h="4211469">
                <a:moveTo>
                  <a:pt x="0" y="0"/>
                </a:moveTo>
                <a:lnTo>
                  <a:pt x="8228873" y="0"/>
                </a:lnTo>
                <a:lnTo>
                  <a:pt x="8228873" y="4211469"/>
                </a:lnTo>
                <a:lnTo>
                  <a:pt x="0" y="4211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11"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0132099" y="2270374"/>
            <a:ext cx="7142128" cy="4211469"/>
          </a:xfrm>
          <a:custGeom>
            <a:avLst/>
            <a:gdLst/>
            <a:ahLst/>
            <a:cxnLst/>
            <a:rect l="l" t="t" r="r" b="b"/>
            <a:pathLst>
              <a:path w="7142128" h="4211469">
                <a:moveTo>
                  <a:pt x="0" y="0"/>
                </a:moveTo>
                <a:lnTo>
                  <a:pt x="7142129" y="0"/>
                </a:lnTo>
                <a:lnTo>
                  <a:pt x="7142129" y="4211469"/>
                </a:lnTo>
                <a:lnTo>
                  <a:pt x="0" y="4211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826" r="-11826"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8992" y="1373754"/>
            <a:ext cx="611254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SCREENSHOTS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80837" y="6670418"/>
            <a:ext cx="174890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home page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36910" y="6527861"/>
            <a:ext cx="2054781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features page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49530" y="2659438"/>
            <a:ext cx="8494470" cy="4973528"/>
          </a:xfrm>
          <a:custGeom>
            <a:avLst/>
            <a:gdLst/>
            <a:ahLst/>
            <a:cxnLst/>
            <a:rect l="l" t="t" r="r" b="b"/>
            <a:pathLst>
              <a:path w="8494470" h="4973528">
                <a:moveTo>
                  <a:pt x="0" y="0"/>
                </a:moveTo>
                <a:lnTo>
                  <a:pt x="8494470" y="0"/>
                </a:lnTo>
                <a:lnTo>
                  <a:pt x="8494470" y="4973528"/>
                </a:lnTo>
                <a:lnTo>
                  <a:pt x="0" y="4973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68685" y="7805355"/>
            <a:ext cx="165615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login page </a:t>
            </a:r>
          </a:p>
        </p:txBody>
      </p:sp>
      <p:sp>
        <p:nvSpPr>
          <p:cNvPr id="10" name="Freeform 10"/>
          <p:cNvSpPr/>
          <p:nvPr/>
        </p:nvSpPr>
        <p:spPr>
          <a:xfrm>
            <a:off x="9611834" y="2833381"/>
            <a:ext cx="7986338" cy="4777837"/>
          </a:xfrm>
          <a:custGeom>
            <a:avLst/>
            <a:gdLst/>
            <a:ahLst/>
            <a:cxnLst/>
            <a:rect l="l" t="t" r="r" b="b"/>
            <a:pathLst>
              <a:path w="7986338" h="4777837">
                <a:moveTo>
                  <a:pt x="0" y="0"/>
                </a:moveTo>
                <a:lnTo>
                  <a:pt x="7986338" y="0"/>
                </a:lnTo>
                <a:lnTo>
                  <a:pt x="7986338" y="4777837"/>
                </a:lnTo>
                <a:lnTo>
                  <a:pt x="0" y="4777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80" r="-7862"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2890782" y="7805355"/>
            <a:ext cx="203739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register  page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830757" y="1558726"/>
            <a:ext cx="12175523" cy="5768154"/>
          </a:xfrm>
          <a:custGeom>
            <a:avLst/>
            <a:gdLst/>
            <a:ahLst/>
            <a:cxnLst/>
            <a:rect l="l" t="t" r="r" b="b"/>
            <a:pathLst>
              <a:path w="12175523" h="5768154">
                <a:moveTo>
                  <a:pt x="0" y="0"/>
                </a:moveTo>
                <a:lnTo>
                  <a:pt x="12175524" y="0"/>
                </a:lnTo>
                <a:lnTo>
                  <a:pt x="12175524" y="5768154"/>
                </a:lnTo>
                <a:lnTo>
                  <a:pt x="0" y="5768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80597" y="7404007"/>
            <a:ext cx="234017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dashboard page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511743" y="1700248"/>
            <a:ext cx="13084230" cy="6116878"/>
          </a:xfrm>
          <a:custGeom>
            <a:avLst/>
            <a:gdLst/>
            <a:ahLst/>
            <a:cxnLst/>
            <a:rect l="l" t="t" r="r" b="b"/>
            <a:pathLst>
              <a:path w="13084230" h="6116878">
                <a:moveTo>
                  <a:pt x="0" y="0"/>
                </a:moveTo>
                <a:lnTo>
                  <a:pt x="13084230" y="0"/>
                </a:lnTo>
                <a:lnTo>
                  <a:pt x="13084230" y="6116878"/>
                </a:lnTo>
                <a:lnTo>
                  <a:pt x="0" y="611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1508" y="7947138"/>
            <a:ext cx="302180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network scanner page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058754" y="1597746"/>
            <a:ext cx="14221127" cy="6639489"/>
          </a:xfrm>
          <a:custGeom>
            <a:avLst/>
            <a:gdLst/>
            <a:ahLst/>
            <a:cxnLst/>
            <a:rect l="l" t="t" r="r" b="b"/>
            <a:pathLst>
              <a:path w="14221127" h="6639489">
                <a:moveTo>
                  <a:pt x="0" y="0"/>
                </a:moveTo>
                <a:lnTo>
                  <a:pt x="14221127" y="0"/>
                </a:lnTo>
                <a:lnTo>
                  <a:pt x="14221127" y="6639489"/>
                </a:lnTo>
                <a:lnTo>
                  <a:pt x="0" y="6639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2075" y="8360952"/>
            <a:ext cx="255793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web scanner page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2191371"/>
            <a:ext cx="13084230" cy="5904259"/>
          </a:xfrm>
          <a:custGeom>
            <a:avLst/>
            <a:gdLst/>
            <a:ahLst/>
            <a:cxnLst/>
            <a:rect l="l" t="t" r="r" b="b"/>
            <a:pathLst>
              <a:path w="13084230" h="5904259">
                <a:moveTo>
                  <a:pt x="0" y="0"/>
                </a:moveTo>
                <a:lnTo>
                  <a:pt x="13084230" y="0"/>
                </a:lnTo>
                <a:lnTo>
                  <a:pt x="13084230" y="5904258"/>
                </a:lnTo>
                <a:lnTo>
                  <a:pt x="0" y="5904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95552" y="8360952"/>
            <a:ext cx="313098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SSL / TLS checker page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7562" y="2538698"/>
            <a:ext cx="13673578" cy="5520707"/>
          </a:xfrm>
          <a:custGeom>
            <a:avLst/>
            <a:gdLst/>
            <a:ahLst/>
            <a:cxnLst/>
            <a:rect l="l" t="t" r="r" b="b"/>
            <a:pathLst>
              <a:path w="13673578" h="5520707">
                <a:moveTo>
                  <a:pt x="0" y="0"/>
                </a:moveTo>
                <a:lnTo>
                  <a:pt x="13673578" y="0"/>
                </a:lnTo>
                <a:lnTo>
                  <a:pt x="13673578" y="5520707"/>
                </a:lnTo>
                <a:lnTo>
                  <a:pt x="0" y="5520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59552" y="8232934"/>
            <a:ext cx="1949291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reports page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81124" y="8232934"/>
            <a:ext cx="250614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admin dashboard </a:t>
            </a:r>
          </a:p>
        </p:txBody>
      </p:sp>
      <p:sp>
        <p:nvSpPr>
          <p:cNvPr id="9" name="Freeform 9"/>
          <p:cNvSpPr/>
          <p:nvPr/>
        </p:nvSpPr>
        <p:spPr>
          <a:xfrm>
            <a:off x="2601885" y="1877423"/>
            <a:ext cx="13084230" cy="6239542"/>
          </a:xfrm>
          <a:custGeom>
            <a:avLst/>
            <a:gdLst/>
            <a:ahLst/>
            <a:cxnLst/>
            <a:rect l="l" t="t" r="r" b="b"/>
            <a:pathLst>
              <a:path w="13084230" h="6239542">
                <a:moveTo>
                  <a:pt x="0" y="0"/>
                </a:moveTo>
                <a:lnTo>
                  <a:pt x="13084230" y="0"/>
                </a:lnTo>
                <a:lnTo>
                  <a:pt x="13084230" y="6239542"/>
                </a:lnTo>
                <a:lnTo>
                  <a:pt x="0" y="62395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419003" y="1874226"/>
            <a:ext cx="13084230" cy="5953325"/>
          </a:xfrm>
          <a:custGeom>
            <a:avLst/>
            <a:gdLst/>
            <a:ahLst/>
            <a:cxnLst/>
            <a:rect l="l" t="t" r="r" b="b"/>
            <a:pathLst>
              <a:path w="13084230" h="5953325">
                <a:moveTo>
                  <a:pt x="0" y="0"/>
                </a:moveTo>
                <a:lnTo>
                  <a:pt x="13084230" y="0"/>
                </a:lnTo>
                <a:lnTo>
                  <a:pt x="13084230" y="5953325"/>
                </a:lnTo>
                <a:lnTo>
                  <a:pt x="0" y="5953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78898" y="8013477"/>
            <a:ext cx="2236702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admin profile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70490" y="2571558"/>
            <a:ext cx="10429315" cy="4641400"/>
          </a:xfrm>
          <a:custGeom>
            <a:avLst/>
            <a:gdLst/>
            <a:ahLst/>
            <a:cxnLst/>
            <a:rect l="l" t="t" r="r" b="b"/>
            <a:pathLst>
              <a:path w="10429315" h="4641400">
                <a:moveTo>
                  <a:pt x="0" y="0"/>
                </a:moveTo>
                <a:lnTo>
                  <a:pt x="10429316" y="0"/>
                </a:lnTo>
                <a:lnTo>
                  <a:pt x="10429316" y="4641400"/>
                </a:lnTo>
                <a:lnTo>
                  <a:pt x="0" y="4641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6" b="-136"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2221913" y="1916327"/>
            <a:ext cx="5468570" cy="6135249"/>
          </a:xfrm>
          <a:custGeom>
            <a:avLst/>
            <a:gdLst/>
            <a:ahLst/>
            <a:cxnLst/>
            <a:rect l="l" t="t" r="r" b="b"/>
            <a:pathLst>
              <a:path w="5468570" h="6135249">
                <a:moveTo>
                  <a:pt x="0" y="0"/>
                </a:moveTo>
                <a:lnTo>
                  <a:pt x="5468569" y="0"/>
                </a:lnTo>
                <a:lnTo>
                  <a:pt x="5468569" y="6135249"/>
                </a:lnTo>
                <a:lnTo>
                  <a:pt x="0" y="6135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44937" y="8013476"/>
            <a:ext cx="343221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admin / user management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80137" y="1519602"/>
            <a:ext cx="13084230" cy="6116878"/>
          </a:xfrm>
          <a:custGeom>
            <a:avLst/>
            <a:gdLst/>
            <a:ahLst/>
            <a:cxnLst/>
            <a:rect l="l" t="t" r="r" b="b"/>
            <a:pathLst>
              <a:path w="13084230" h="6116878">
                <a:moveTo>
                  <a:pt x="0" y="0"/>
                </a:moveTo>
                <a:lnTo>
                  <a:pt x="13084230" y="0"/>
                </a:lnTo>
                <a:lnTo>
                  <a:pt x="13084230" y="6116877"/>
                </a:lnTo>
                <a:lnTo>
                  <a:pt x="0" y="611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33000" y="8013476"/>
            <a:ext cx="2587400" cy="330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admin reports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FC8B1-7C3B-9FF1-D45B-02814D61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56921BF-7DCE-7C5D-D777-AC12810C2EED}"/>
              </a:ext>
            </a:extLst>
          </p:cNvPr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8B9C143-B013-59FD-3665-32C7F8E4A0D6}"/>
              </a:ext>
            </a:extLst>
          </p:cNvPr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382E44B-C3B2-89EE-52A5-B08A2FACE6EB}"/>
              </a:ext>
            </a:extLst>
          </p:cNvPr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52949D4-7789-B187-045A-3BA0330CEA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A096AAA-B3C0-A467-9E26-4BE58A8C722C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B5CD615-4954-2095-74FD-DFD79026E0BC}"/>
              </a:ext>
            </a:extLst>
          </p:cNvPr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29</a:t>
            </a:r>
          </a:p>
        </p:txBody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FDF37032-2182-D791-DBBF-BAF63C908B26}"/>
              </a:ext>
            </a:extLst>
          </p:cNvPr>
          <p:cNvGrpSpPr/>
          <p:nvPr/>
        </p:nvGrpSpPr>
        <p:grpSpPr>
          <a:xfrm>
            <a:off x="1108992" y="544095"/>
            <a:ext cx="597518" cy="103605"/>
            <a:chOff x="0" y="0"/>
            <a:chExt cx="812800" cy="14093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90C808-414E-784E-FDB7-6A62E94F8783}"/>
                </a:ext>
              </a:extLst>
            </p:cNvPr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26A4F6F2-9DD4-A285-19E1-7103C9DCD1DC}"/>
                </a:ext>
              </a:extLst>
            </p:cNvPr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055B533E-F194-DCED-8764-57E9F6B44DCA}"/>
              </a:ext>
            </a:extLst>
          </p:cNvPr>
          <p:cNvSpPr txBox="1"/>
          <p:nvPr/>
        </p:nvSpPr>
        <p:spPr>
          <a:xfrm>
            <a:off x="1108992" y="694055"/>
            <a:ext cx="611254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resultS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D7E29C9-8D6C-C816-4201-78658F1E2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740219"/>
              </p:ext>
            </p:extLst>
          </p:nvPr>
        </p:nvGraphicFramePr>
        <p:xfrm>
          <a:off x="1108993" y="1485901"/>
          <a:ext cx="6815808" cy="2758224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135968">
                  <a:extLst>
                    <a:ext uri="{9D8B030D-6E8A-4147-A177-3AD203B41FA5}">
                      <a16:colId xmlns:a16="http://schemas.microsoft.com/office/drawing/2014/main" val="1856761552"/>
                    </a:ext>
                  </a:extLst>
                </a:gridCol>
                <a:gridCol w="1316870">
                  <a:extLst>
                    <a:ext uri="{9D8B030D-6E8A-4147-A177-3AD203B41FA5}">
                      <a16:colId xmlns:a16="http://schemas.microsoft.com/office/drawing/2014/main" val="1480463678"/>
                    </a:ext>
                  </a:extLst>
                </a:gridCol>
                <a:gridCol w="1062356">
                  <a:extLst>
                    <a:ext uri="{9D8B030D-6E8A-4147-A177-3AD203B41FA5}">
                      <a16:colId xmlns:a16="http://schemas.microsoft.com/office/drawing/2014/main" val="3406536072"/>
                    </a:ext>
                  </a:extLst>
                </a:gridCol>
                <a:gridCol w="1028678">
                  <a:extLst>
                    <a:ext uri="{9D8B030D-6E8A-4147-A177-3AD203B41FA5}">
                      <a16:colId xmlns:a16="http://schemas.microsoft.com/office/drawing/2014/main" val="3838892964"/>
                    </a:ext>
                  </a:extLst>
                </a:gridCol>
                <a:gridCol w="1135968">
                  <a:extLst>
                    <a:ext uri="{9D8B030D-6E8A-4147-A177-3AD203B41FA5}">
                      <a16:colId xmlns:a16="http://schemas.microsoft.com/office/drawing/2014/main" val="1587067981"/>
                    </a:ext>
                  </a:extLst>
                </a:gridCol>
                <a:gridCol w="1135968">
                  <a:extLst>
                    <a:ext uri="{9D8B030D-6E8A-4147-A177-3AD203B41FA5}">
                      <a16:colId xmlns:a16="http://schemas.microsoft.com/office/drawing/2014/main" val="1439803699"/>
                    </a:ext>
                  </a:extLst>
                </a:gridCol>
              </a:tblGrid>
              <a:tr h="5762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Model</a:t>
                      </a:r>
                    </a:p>
                  </a:txBody>
                  <a:tcPr marL="65552" marR="65552" marT="32775" marB="3277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Dataset</a:t>
                      </a:r>
                    </a:p>
                  </a:txBody>
                  <a:tcPr marL="65552" marR="65552" marT="32775" marB="3277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Accuracy</a:t>
                      </a:r>
                    </a:p>
                  </a:txBody>
                  <a:tcPr marL="65552" marR="65552" marT="32775" marB="3277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Precision</a:t>
                      </a:r>
                    </a:p>
                  </a:txBody>
                  <a:tcPr marL="65552" marR="65552" marT="32775" marB="3277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Recall</a:t>
                      </a:r>
                    </a:p>
                  </a:txBody>
                  <a:tcPr marL="65552" marR="65552" marT="32775" marB="3277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F1-Score</a:t>
                      </a:r>
                    </a:p>
                  </a:txBody>
                  <a:tcPr marL="65552" marR="65552" marT="32775" marB="3277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359801"/>
                  </a:ext>
                </a:extLst>
              </a:tr>
              <a:tr h="1090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SQL Injection</a:t>
                      </a:r>
                    </a:p>
                  </a:txBody>
                  <a:tcPr marL="65552" marR="65552" marT="32775" marB="32775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4,187 samples</a:t>
                      </a:r>
                    </a:p>
                  </a:txBody>
                  <a:tcPr marL="65552" marR="65552" marT="32775" marB="32775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96.18%</a:t>
                      </a:r>
                    </a:p>
                  </a:txBody>
                  <a:tcPr marL="65552" marR="65552" marT="32775" marB="32775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87.60%</a:t>
                      </a:r>
                    </a:p>
                  </a:txBody>
                  <a:tcPr marL="65552" marR="65552" marT="32775" marB="32775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100.00%</a:t>
                      </a:r>
                    </a:p>
                  </a:txBody>
                  <a:tcPr marL="65552" marR="65552" marT="32775" marB="32775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93.39%</a:t>
                      </a:r>
                    </a:p>
                  </a:txBody>
                  <a:tcPr marL="65552" marR="65552" marT="32775" marB="32775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584406"/>
                  </a:ext>
                </a:extLst>
              </a:tr>
              <a:tr h="1090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Network Risk</a:t>
                      </a:r>
                    </a:p>
                  </a:txBody>
                  <a:tcPr marL="65552" marR="65552" marT="32775" marB="32775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3,754 samples</a:t>
                      </a:r>
                    </a:p>
                  </a:txBody>
                  <a:tcPr marL="65552" marR="65552" marT="32775" marB="32775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71.77%</a:t>
                      </a:r>
                    </a:p>
                  </a:txBody>
                  <a:tcPr marL="82341" marR="82341" marT="41171" marB="41171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72.47%</a:t>
                      </a:r>
                    </a:p>
                  </a:txBody>
                  <a:tcPr marL="82341" marR="82341" marT="41171" marB="41171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71.77%</a:t>
                      </a:r>
                    </a:p>
                  </a:txBody>
                  <a:tcPr marL="82341" marR="82341" marT="41171" marB="41171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71.83%</a:t>
                      </a:r>
                    </a:p>
                  </a:txBody>
                  <a:tcPr marL="82341" marR="82341" marT="41171" marB="41171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60688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AE825E4-D481-3FC7-A303-3BCC860D85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61" b="9390"/>
          <a:stretch>
            <a:fillRect/>
          </a:stretch>
        </p:blipFill>
        <p:spPr>
          <a:xfrm>
            <a:off x="8741897" y="1361636"/>
            <a:ext cx="7840383" cy="33785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82E439-A464-7F14-DBE5-8ABAEE79E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" r="5208"/>
          <a:stretch>
            <a:fillRect/>
          </a:stretch>
        </p:blipFill>
        <p:spPr>
          <a:xfrm>
            <a:off x="1108992" y="4910213"/>
            <a:ext cx="6968208" cy="478140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97148D-FCC2-54D9-5161-D2C8601334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6457" y="4969065"/>
            <a:ext cx="6535964" cy="4684457"/>
          </a:xfrm>
          <a:prstGeom prst="rect">
            <a:avLst/>
          </a:prstGeom>
        </p:spPr>
      </p:pic>
      <p:sp>
        <p:nvSpPr>
          <p:cNvPr id="20" name="Freeform 3">
            <a:extLst>
              <a:ext uri="{FF2B5EF4-FFF2-40B4-BE49-F238E27FC236}">
                <a16:creationId xmlns:a16="http://schemas.microsoft.com/office/drawing/2014/main" id="{3E59CB18-E540-84DB-997E-CFD4A819E460}"/>
              </a:ext>
            </a:extLst>
          </p:cNvPr>
          <p:cNvSpPr/>
          <p:nvPr/>
        </p:nvSpPr>
        <p:spPr>
          <a:xfrm>
            <a:off x="14048777" y="3390900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465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30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08992" y="1373754"/>
            <a:ext cx="611254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REFERENCES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8992" y="2263390"/>
            <a:ext cx="16432859" cy="668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Malkawi, M.; Alhajj, R. AI-Powered Vulnerability Detection and Patch Management in Cybersecurity: A Systematic Review of Techniques, Challenges, and Emerging Trends. Mach. Learn. </a:t>
            </a:r>
            <a:r>
              <a:rPr lang="en-US" sz="2199" i="1" spc="136" dirty="0" err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Knowl</a:t>
            </a: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. </a:t>
            </a:r>
            <a:r>
              <a:rPr lang="en-US" sz="2199" i="1" spc="136" dirty="0" err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Extr</a:t>
            </a: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. 2026, 8, 19. https://doi.org/10.3390/make8010019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Bakır, R. UniEmbed: A Novel Approach to Detect XSS and SQL Injection Attacks Leveraging Multiple Feature Fusion with Machine Learning Techniques. Arab J Sci Eng 50, 15591–15604 (2025). https://doi.org/10.1007/s13369-024-09916-4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Arasteh, B., Aghaei, B., Farzad, B. et al. Detecting SQL injection attacks by binary gray wolf optimizer and machine learning algorithms. Neural Comput &amp; Applic 36, 6771–6792 (2024). https://doi.org/10.1007/s00521-024-09429-z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OWASP Foundation. (2021). OWASP Top 10:2021. https://owasp.org/Top10/</a:t>
            </a:r>
            <a:endParaRPr lang="en-US" sz="2199" i="1" spc="136" dirty="0">
              <a:solidFill>
                <a:srgbClr val="FFFFFF"/>
              </a:solidFill>
              <a:latin typeface="Canva Sans Italics"/>
              <a:ea typeface="Canva Sans Italics"/>
              <a:cs typeface="Canva Sans Italics"/>
              <a:sym typeface="Canva Sans Italics"/>
              <a:hlinkClick r:id="rId3" tooltip="https://owasp.org/Top10/"/>
            </a:endParaRP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Lyon, G. (2025). Nmap Network Scanning: The Official Nmap Project Guide to Network Discovery and Security Scanning. Nmap Project. https://nmap.org/book/</a:t>
            </a:r>
            <a:endParaRPr lang="en-US" sz="2199" i="1" spc="136" dirty="0">
              <a:solidFill>
                <a:srgbClr val="FFFFFF"/>
              </a:solidFill>
              <a:latin typeface="Canva Sans Italics"/>
              <a:ea typeface="Canva Sans Italics"/>
              <a:cs typeface="Canva Sans Italics"/>
              <a:sym typeface="Canva Sans Italics"/>
              <a:hlinkClick r:id="rId4" tooltip="https://nmap.org/book/?utm_source=chatgpt.co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08992" y="1373754"/>
            <a:ext cx="6112540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CONCLUSION</a:t>
            </a:r>
          </a:p>
        </p:txBody>
      </p: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857396" y="8851031"/>
            <a:ext cx="263689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9899" y="2162875"/>
            <a:ext cx="16639341" cy="330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SURAKSHA provides an integrated platform for web and network vulnerability assessment.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Combines web scanning, network reconnaissance, SSL/TLS analysis, protocol analysis, and CVE mapping.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Uses rule-based security testing and machine-learning-assisted risk prediction.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Provides centralized scan results, severity levels, risk scores, and security reports.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Helps users identify vulnerabilities and understand their potential security impact.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Reduces the need for multiple independent security assessment tools.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8056" y="6551074"/>
            <a:ext cx="15850744" cy="1977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8" lvl="1" indent="-237489" algn="l">
              <a:lnSpc>
                <a:spcPts val="538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Expand datasets and attack types to improve vulnerability detection.</a:t>
            </a:r>
          </a:p>
          <a:p>
            <a:pPr marL="474978" lvl="1" indent="-237489" algn="l">
              <a:lnSpc>
                <a:spcPts val="538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Detect obfuscated and unseen attacks using improved ML techniques.</a:t>
            </a:r>
          </a:p>
          <a:p>
            <a:pPr marL="474978" lvl="1" indent="-237489" algn="l">
              <a:lnSpc>
                <a:spcPts val="538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Improve CVE updates and security recommendations with regularly updated vulnerability information.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8992" y="5919248"/>
            <a:ext cx="6112540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FUTURE ENHANCEMENTS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08992" y="5686774"/>
            <a:ext cx="597518" cy="103605"/>
            <a:chOff x="0" y="0"/>
            <a:chExt cx="812800" cy="14093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5202610" y="1202110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0"/>
                </a:lnTo>
                <a:lnTo>
                  <a:pt x="0" y="788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148401" y="3405437"/>
            <a:ext cx="14165185" cy="4411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9"/>
              </a:lnSpc>
              <a:spcBef>
                <a:spcPct val="0"/>
              </a:spcBef>
            </a:pPr>
            <a:r>
              <a:rPr lang="en-US" sz="25271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1194</Words>
  <Application>Microsoft Office PowerPoint</Application>
  <PresentationFormat>Custom</PresentationFormat>
  <Paragraphs>302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Open Sans Bold</vt:lpstr>
      <vt:lpstr>Canva Sans Italics</vt:lpstr>
      <vt:lpstr>Bebas Neue Bold</vt:lpstr>
      <vt:lpstr>Calibri</vt:lpstr>
      <vt:lpstr>Times New Roman</vt:lpstr>
      <vt:lpstr>Open Sans</vt:lpstr>
      <vt:lpstr>Canva Sans</vt:lpstr>
      <vt:lpstr>Calibri (MS)</vt:lpstr>
      <vt:lpstr>Roca One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cp:lastModifiedBy>pranavartist1@gmail.com</cp:lastModifiedBy>
  <cp:revision>13</cp:revision>
  <cp:lastPrinted>2026-10-07T14:36:56Z</cp:lastPrinted>
  <dcterms:created xsi:type="dcterms:W3CDTF">2006-08-16T00:00:00Z</dcterms:created>
  <dcterms:modified xsi:type="dcterms:W3CDTF">2026-10-08T09:51:54Z</dcterms:modified>
  <dc:identifier>DAHW4HK8FWI</dc:identifier>
</cp:coreProperties>
</file>