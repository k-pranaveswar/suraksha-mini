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8288000" cy="10287000"/>
  <p:notesSz cx="6858000" cy="9144000"/>
  <p:embeddedFontLst>
    <p:embeddedFont>
      <p:font typeface="Bebas Neue Bold" panose="020B0604020202020204" charset="0"/>
      <p:regular r:id="rId30"/>
    </p:embeddedFont>
    <p:embeddedFont>
      <p:font typeface="Canva Sans" panose="020B0604020202020204" charset="0"/>
      <p:regular r:id="rId31"/>
    </p:embeddedFont>
    <p:embeddedFont>
      <p:font typeface="Canva Sans Italics" panose="020B0604020202020204" charset="0"/>
      <p:regular r:id="rId32"/>
    </p:embeddedFont>
    <p:embeddedFont>
      <p:font typeface="Open Sans" panose="020B0606030504020204" pitchFamily="34" charset="0"/>
      <p:regular r:id="rId33"/>
    </p:embeddedFont>
    <p:embeddedFont>
      <p:font typeface="Open Sans Bold" panose="020B0604020202020204" charset="0"/>
      <p:regular r:id="rId34"/>
    </p:embeddedFont>
    <p:embeddedFont>
      <p:font typeface="Roca One Heavy" panose="020B0604020202020204" charset="0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oleObject" Target="../embeddings/oleObject4.bin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owasp.org/Top10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scikit-learn.org/stable/user_guide.html" TargetMode="External"/><Relationship Id="rId4" Type="http://schemas.openxmlformats.org/officeDocument/2006/relationships/hyperlink" Target="https://nmap.org/book/?utm_source=chatgpt.com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5202610" y="1202110"/>
            <a:ext cx="7882781" cy="7882781"/>
          </a:xfrm>
          <a:custGeom>
            <a:avLst/>
            <a:gdLst/>
            <a:ahLst/>
            <a:cxnLst/>
            <a:rect l="l" t="t" r="r" b="b"/>
            <a:pathLst>
              <a:path w="7882781" h="7882781">
                <a:moveTo>
                  <a:pt x="0" y="0"/>
                </a:moveTo>
                <a:lnTo>
                  <a:pt x="7882780" y="0"/>
                </a:lnTo>
                <a:lnTo>
                  <a:pt x="7882780" y="7882780"/>
                </a:lnTo>
                <a:lnTo>
                  <a:pt x="0" y="78827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2061408" y="2694886"/>
            <a:ext cx="14165185" cy="4376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379"/>
              </a:lnSpc>
              <a:spcBef>
                <a:spcPct val="0"/>
              </a:spcBef>
            </a:pPr>
            <a:r>
              <a:rPr lang="en-US" sz="25271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SURAKSHA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13856" y="6352191"/>
            <a:ext cx="13660288" cy="356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4"/>
              </a:lnSpc>
              <a:spcBef>
                <a:spcPct val="0"/>
              </a:spcBef>
            </a:pPr>
            <a:r>
              <a:rPr lang="en-US" sz="2096" spc="167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 INTELLIGENT VULNERABILITY SCANNER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34149" y="8561015"/>
            <a:ext cx="3584019" cy="1226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3"/>
              </a:lnSpc>
            </a:pPr>
            <a:r>
              <a:rPr lang="en-US" sz="1899" spc="17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Name    : K PRANAV ESWAR</a:t>
            </a:r>
          </a:p>
          <a:p>
            <a:pPr algn="l">
              <a:lnSpc>
                <a:spcPts val="3343"/>
              </a:lnSpc>
            </a:pPr>
            <a:r>
              <a:rPr lang="en-US" sz="1899" spc="17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Reg No. : LMC25MCA-2034</a:t>
            </a:r>
          </a:p>
          <a:p>
            <a:pPr algn="l">
              <a:lnSpc>
                <a:spcPts val="3343"/>
              </a:lnSpc>
              <a:spcBef>
                <a:spcPct val="0"/>
              </a:spcBef>
            </a:pPr>
            <a:r>
              <a:rPr lang="en-US" sz="1899" spc="17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Dept      : S3 MCA 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085390" y="8980115"/>
            <a:ext cx="3994904" cy="388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3"/>
              </a:lnSpc>
              <a:spcBef>
                <a:spcPct val="0"/>
              </a:spcBef>
            </a:pPr>
            <a:r>
              <a:rPr lang="en-US" sz="1899" spc="17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GUIDE : Ms BISMI K CHARLEYS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7" name="Group 7"/>
          <p:cNvGrpSpPr/>
          <p:nvPr/>
        </p:nvGrpSpPr>
        <p:grpSpPr>
          <a:xfrm>
            <a:off x="1670617" y="1658828"/>
            <a:ext cx="4752397" cy="8628172"/>
            <a:chOff x="0" y="0"/>
            <a:chExt cx="349758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497580" cy="6350000"/>
            </a:xfrm>
            <a:custGeom>
              <a:avLst/>
              <a:gdLst/>
              <a:ahLst/>
              <a:cxnLst/>
              <a:rect l="l" t="t" r="r" b="b"/>
              <a:pathLst>
                <a:path w="3497580" h="6350000">
                  <a:moveTo>
                    <a:pt x="3497580" y="6350000"/>
                  </a:moveTo>
                  <a:lnTo>
                    <a:pt x="744220" y="6350000"/>
                  </a:lnTo>
                  <a:lnTo>
                    <a:pt x="0" y="0"/>
                  </a:lnTo>
                  <a:lnTo>
                    <a:pt x="2753360" y="0"/>
                  </a:lnTo>
                  <a:lnTo>
                    <a:pt x="3497580" y="6350000"/>
                  </a:lnTo>
                  <a:close/>
                </a:path>
              </a:pathLst>
            </a:custGeom>
            <a:blipFill>
              <a:blip r:embed="rId3"/>
              <a:stretch>
                <a:fillRect t="-21408" r="-4685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391974" y="0"/>
            <a:ext cx="3947476" cy="7166805"/>
            <a:chOff x="0" y="0"/>
            <a:chExt cx="3497580" cy="6350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497580" cy="6350000"/>
            </a:xfrm>
            <a:custGeom>
              <a:avLst/>
              <a:gdLst/>
              <a:ahLst/>
              <a:cxnLst/>
              <a:rect l="l" t="t" r="r" b="b"/>
              <a:pathLst>
                <a:path w="3497580" h="6350000">
                  <a:moveTo>
                    <a:pt x="3497580" y="6350000"/>
                  </a:moveTo>
                  <a:lnTo>
                    <a:pt x="744220" y="6350000"/>
                  </a:lnTo>
                  <a:lnTo>
                    <a:pt x="0" y="0"/>
                  </a:lnTo>
                  <a:lnTo>
                    <a:pt x="2753360" y="0"/>
                  </a:lnTo>
                  <a:lnTo>
                    <a:pt x="3497580" y="6350000"/>
                  </a:lnTo>
                  <a:close/>
                </a:path>
              </a:pathLst>
            </a:custGeom>
            <a:blipFill>
              <a:blip r:embed="rId3"/>
              <a:stretch>
                <a:fillRect l="-70819" t="-4551" b="-3666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Freeform 11"/>
          <p:cNvSpPr/>
          <p:nvPr/>
        </p:nvSpPr>
        <p:spPr>
          <a:xfrm>
            <a:off x="882609" y="5653128"/>
            <a:ext cx="2468924" cy="2468924"/>
          </a:xfrm>
          <a:custGeom>
            <a:avLst/>
            <a:gdLst/>
            <a:ahLst/>
            <a:cxnLst/>
            <a:rect l="l" t="t" r="r" b="b"/>
            <a:pathLst>
              <a:path w="2468924" h="2468924">
                <a:moveTo>
                  <a:pt x="0" y="0"/>
                </a:moveTo>
                <a:lnTo>
                  <a:pt x="2468924" y="0"/>
                </a:lnTo>
                <a:lnTo>
                  <a:pt x="2468924" y="2468924"/>
                </a:lnTo>
                <a:lnTo>
                  <a:pt x="0" y="24689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>
            <a:off x="7968411" y="1201755"/>
            <a:ext cx="1565933" cy="1565933"/>
          </a:xfrm>
          <a:custGeom>
            <a:avLst/>
            <a:gdLst/>
            <a:ahLst/>
            <a:cxnLst/>
            <a:rect l="l" t="t" r="r" b="b"/>
            <a:pathLst>
              <a:path w="1565933" h="1565933">
                <a:moveTo>
                  <a:pt x="0" y="0"/>
                </a:moveTo>
                <a:lnTo>
                  <a:pt x="1565933" y="0"/>
                </a:lnTo>
                <a:lnTo>
                  <a:pt x="1565933" y="1565934"/>
                </a:lnTo>
                <a:lnTo>
                  <a:pt x="0" y="15659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3" name="Group 13"/>
          <p:cNvGrpSpPr/>
          <p:nvPr/>
        </p:nvGrpSpPr>
        <p:grpSpPr>
          <a:xfrm>
            <a:off x="10248449" y="1555928"/>
            <a:ext cx="597518" cy="103605"/>
            <a:chOff x="0" y="0"/>
            <a:chExt cx="812800" cy="14093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140934"/>
            </a:xfrm>
            <a:custGeom>
              <a:avLst/>
              <a:gdLst/>
              <a:ahLst/>
              <a:cxnLst/>
              <a:rect l="l" t="t" r="r" b="b"/>
              <a:pathLst>
                <a:path w="812800" h="140934">
                  <a:moveTo>
                    <a:pt x="0" y="0"/>
                  </a:moveTo>
                  <a:lnTo>
                    <a:pt x="812800" y="0"/>
                  </a:lnTo>
                  <a:lnTo>
                    <a:pt x="812800" y="140934"/>
                  </a:lnTo>
                  <a:lnTo>
                    <a:pt x="0" y="140934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812800" cy="179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0204952" y="1624208"/>
            <a:ext cx="4825476" cy="1118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  <a:spcBef>
                <a:spcPct val="0"/>
              </a:spcBef>
            </a:pPr>
            <a:r>
              <a:rPr lang="en-US" sz="6499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INTRODUCTION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04952" y="2790703"/>
            <a:ext cx="6478183" cy="3475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9"/>
              </a:lnSpc>
            </a:pPr>
            <a:r>
              <a:rPr lang="en-US" sz="212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 WEB-BASED CYBERSECURITY VULNERABILITY ASSESSMENT PLATFORM.</a:t>
            </a:r>
          </a:p>
          <a:p>
            <a:pPr algn="l">
              <a:lnSpc>
                <a:spcPts val="2419"/>
              </a:lnSpc>
            </a:pPr>
            <a:endParaRPr lang="en-US" sz="2127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419"/>
              </a:lnSpc>
            </a:pPr>
            <a:r>
              <a:rPr lang="en-US" sz="172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It combines different security checks in a single system:</a:t>
            </a:r>
          </a:p>
          <a:p>
            <a:pPr marL="373064" lvl="1" indent="-186532" algn="l">
              <a:lnSpc>
                <a:spcPts val="2419"/>
              </a:lnSpc>
              <a:buFont typeface="Arial"/>
              <a:buChar char="•"/>
            </a:pPr>
            <a:r>
              <a:rPr lang="en-US" sz="172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Web Vulnerability Scanning</a:t>
            </a:r>
          </a:p>
          <a:p>
            <a:pPr marL="373064" lvl="1" indent="-186532" algn="l">
              <a:lnSpc>
                <a:spcPts val="2419"/>
              </a:lnSpc>
              <a:buFont typeface="Arial"/>
              <a:buChar char="•"/>
            </a:pPr>
            <a:r>
              <a:rPr lang="en-US" sz="172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Network Reconnaissance</a:t>
            </a:r>
          </a:p>
          <a:p>
            <a:pPr marL="373064" lvl="1" indent="-186532" algn="l">
              <a:lnSpc>
                <a:spcPts val="2419"/>
              </a:lnSpc>
              <a:buFont typeface="Arial"/>
              <a:buChar char="•"/>
            </a:pPr>
            <a:r>
              <a:rPr lang="en-US" sz="172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SSL/TLS Security Analysis</a:t>
            </a:r>
          </a:p>
          <a:p>
            <a:pPr marL="373064" lvl="1" indent="-186532" algn="l">
              <a:lnSpc>
                <a:spcPts val="2419"/>
              </a:lnSpc>
              <a:buFont typeface="Arial"/>
              <a:buChar char="•"/>
            </a:pPr>
            <a:r>
              <a:rPr lang="en-US" sz="172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Protocol Analysis</a:t>
            </a:r>
          </a:p>
          <a:p>
            <a:pPr marL="373064" lvl="1" indent="-186532" algn="l">
              <a:lnSpc>
                <a:spcPts val="2419"/>
              </a:lnSpc>
              <a:buFont typeface="Arial"/>
              <a:buChar char="•"/>
            </a:pPr>
            <a:r>
              <a:rPr lang="en-US" sz="172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CVE Mapping</a:t>
            </a:r>
          </a:p>
          <a:p>
            <a:pPr marL="373064" lvl="1" indent="-186532" algn="l">
              <a:lnSpc>
                <a:spcPts val="2419"/>
              </a:lnSpc>
              <a:buFont typeface="Arial"/>
              <a:buChar char="•"/>
            </a:pPr>
            <a:r>
              <a:rPr lang="en-US" sz="172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ML-Based Risk Prediction</a:t>
            </a:r>
          </a:p>
          <a:p>
            <a:pPr algn="l">
              <a:lnSpc>
                <a:spcPts val="2419"/>
              </a:lnSpc>
              <a:spcBef>
                <a:spcPct val="0"/>
              </a:spcBef>
            </a:pPr>
            <a:endParaRPr lang="en-US" sz="1727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0833052" y="7163815"/>
            <a:ext cx="5393541" cy="391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7"/>
              </a:lnSpc>
              <a:spcBef>
                <a:spcPct val="0"/>
              </a:spcBef>
            </a:pPr>
            <a:r>
              <a:rPr lang="en-US" sz="230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Detect → Analyse → Assess → Report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924775" y="6366257"/>
            <a:ext cx="6301818" cy="521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40"/>
              </a:lnSpc>
              <a:spcBef>
                <a:spcPct val="0"/>
              </a:spcBef>
            </a:pPr>
            <a:r>
              <a:rPr lang="en-US" sz="31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Flow in simple words: </a:t>
            </a:r>
          </a:p>
        </p:txBody>
      </p:sp>
      <p:sp>
        <p:nvSpPr>
          <p:cNvPr id="20" name="TextBox 20"/>
          <p:cNvSpPr txBox="1"/>
          <p:nvPr/>
        </p:nvSpPr>
        <p:spPr>
          <a:xfrm rot="-5231768">
            <a:off x="82785" y="3363845"/>
            <a:ext cx="5421585" cy="2094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907"/>
              </a:lnSpc>
              <a:spcBef>
                <a:spcPct val="0"/>
              </a:spcBef>
            </a:pPr>
            <a:r>
              <a:rPr lang="en-US" sz="11362" b="1" u="none" strike="noStrike">
                <a:solidFill>
                  <a:srgbClr val="FFC700"/>
                </a:solidFill>
                <a:latin typeface="Roca One Heavy"/>
                <a:ea typeface="Roca One Heavy"/>
                <a:cs typeface="Roca One Heavy"/>
                <a:sym typeface="Roca One Heavy"/>
              </a:rPr>
              <a:t>TRUST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857396" y="8851031"/>
            <a:ext cx="263689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4790376" y="4943668"/>
            <a:ext cx="2468924" cy="2468924"/>
          </a:xfrm>
          <a:custGeom>
            <a:avLst/>
            <a:gdLst/>
            <a:ahLst/>
            <a:cxnLst/>
            <a:rect l="l" t="t" r="r" b="b"/>
            <a:pathLst>
              <a:path w="2468924" h="2468924">
                <a:moveTo>
                  <a:pt x="0" y="0"/>
                </a:moveTo>
                <a:lnTo>
                  <a:pt x="2468924" y="0"/>
                </a:lnTo>
                <a:lnTo>
                  <a:pt x="2468924" y="2468923"/>
                </a:lnTo>
                <a:lnTo>
                  <a:pt x="0" y="24689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8909191" y="2062788"/>
            <a:ext cx="1565933" cy="1565933"/>
          </a:xfrm>
          <a:custGeom>
            <a:avLst/>
            <a:gdLst/>
            <a:ahLst/>
            <a:cxnLst/>
            <a:rect l="l" t="t" r="r" b="b"/>
            <a:pathLst>
              <a:path w="1565933" h="1565933">
                <a:moveTo>
                  <a:pt x="0" y="0"/>
                </a:moveTo>
                <a:lnTo>
                  <a:pt x="1565933" y="0"/>
                </a:lnTo>
                <a:lnTo>
                  <a:pt x="1565933" y="1565934"/>
                </a:lnTo>
                <a:lnTo>
                  <a:pt x="0" y="15659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6" name="Group 6"/>
          <p:cNvGrpSpPr/>
          <p:nvPr/>
        </p:nvGrpSpPr>
        <p:grpSpPr>
          <a:xfrm>
            <a:off x="1028700" y="861528"/>
            <a:ext cx="597518" cy="103605"/>
            <a:chOff x="0" y="0"/>
            <a:chExt cx="812800" cy="14093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140934"/>
            </a:xfrm>
            <a:custGeom>
              <a:avLst/>
              <a:gdLst/>
              <a:ahLst/>
              <a:cxnLst/>
              <a:rect l="l" t="t" r="r" b="b"/>
              <a:pathLst>
                <a:path w="812800" h="140934">
                  <a:moveTo>
                    <a:pt x="0" y="0"/>
                  </a:moveTo>
                  <a:lnTo>
                    <a:pt x="812800" y="0"/>
                  </a:lnTo>
                  <a:lnTo>
                    <a:pt x="812800" y="140934"/>
                  </a:lnTo>
                  <a:lnTo>
                    <a:pt x="0" y="140934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12800" cy="179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166487" y="2727358"/>
            <a:ext cx="15962322" cy="5576836"/>
          </a:xfrm>
          <a:custGeom>
            <a:avLst/>
            <a:gdLst/>
            <a:ahLst/>
            <a:cxnLst/>
            <a:rect l="l" t="t" r="r" b="b"/>
            <a:pathLst>
              <a:path w="15962322" h="5576836">
                <a:moveTo>
                  <a:pt x="0" y="0"/>
                </a:moveTo>
                <a:lnTo>
                  <a:pt x="15962322" y="0"/>
                </a:lnTo>
                <a:lnTo>
                  <a:pt x="15962322" y="5576836"/>
                </a:lnTo>
                <a:lnTo>
                  <a:pt x="0" y="55768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31808"/>
            <a:ext cx="5483555" cy="927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84"/>
              </a:lnSpc>
            </a:pPr>
            <a:r>
              <a:rPr lang="en-US" sz="6499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LITERATURE SURVEY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7857396" y="8851031"/>
            <a:ext cx="26368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7857396" y="8851031"/>
            <a:ext cx="26368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id="8" name="Freeform 8"/>
          <p:cNvSpPr/>
          <p:nvPr/>
        </p:nvSpPr>
        <p:spPr>
          <a:xfrm>
            <a:off x="15970591" y="3909038"/>
            <a:ext cx="2468924" cy="2468924"/>
          </a:xfrm>
          <a:custGeom>
            <a:avLst/>
            <a:gdLst/>
            <a:ahLst/>
            <a:cxnLst/>
            <a:rect l="l" t="t" r="r" b="b"/>
            <a:pathLst>
              <a:path w="2468924" h="2468924">
                <a:moveTo>
                  <a:pt x="0" y="0"/>
                </a:moveTo>
                <a:lnTo>
                  <a:pt x="2468923" y="0"/>
                </a:lnTo>
                <a:lnTo>
                  <a:pt x="2468923" y="2468924"/>
                </a:lnTo>
                <a:lnTo>
                  <a:pt x="0" y="24689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6141034" y="2484093"/>
            <a:ext cx="1565933" cy="1565933"/>
          </a:xfrm>
          <a:custGeom>
            <a:avLst/>
            <a:gdLst/>
            <a:ahLst/>
            <a:cxnLst/>
            <a:rect l="l" t="t" r="r" b="b"/>
            <a:pathLst>
              <a:path w="1565933" h="1565933">
                <a:moveTo>
                  <a:pt x="0" y="0"/>
                </a:moveTo>
                <a:lnTo>
                  <a:pt x="1565933" y="0"/>
                </a:lnTo>
                <a:lnTo>
                  <a:pt x="1565933" y="1565933"/>
                </a:lnTo>
                <a:lnTo>
                  <a:pt x="0" y="15659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/>
          <p:cNvSpPr txBox="1"/>
          <p:nvPr/>
        </p:nvSpPr>
        <p:spPr>
          <a:xfrm>
            <a:off x="1028700" y="799720"/>
            <a:ext cx="5683261" cy="675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23"/>
              </a:lnSpc>
            </a:pPr>
            <a:r>
              <a:rPr lang="en-US" sz="4700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PROBLEM STATEMENT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28700" y="658015"/>
            <a:ext cx="597518" cy="103605"/>
            <a:chOff x="0" y="0"/>
            <a:chExt cx="812800" cy="14093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140934"/>
            </a:xfrm>
            <a:custGeom>
              <a:avLst/>
              <a:gdLst/>
              <a:ahLst/>
              <a:cxnLst/>
              <a:rect l="l" t="t" r="r" b="b"/>
              <a:pathLst>
                <a:path w="812800" h="140934">
                  <a:moveTo>
                    <a:pt x="0" y="0"/>
                  </a:moveTo>
                  <a:lnTo>
                    <a:pt x="812800" y="0"/>
                  </a:lnTo>
                  <a:lnTo>
                    <a:pt x="812800" y="140934"/>
                  </a:lnTo>
                  <a:lnTo>
                    <a:pt x="0" y="140934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812800" cy="179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275777" y="1531390"/>
            <a:ext cx="10570199" cy="2085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2412" lvl="1" indent="-266206" algn="l">
              <a:lnSpc>
                <a:spcPts val="3329"/>
              </a:lnSpc>
              <a:buFont typeface="Arial"/>
              <a:buChar char="•"/>
            </a:pPr>
            <a:r>
              <a:rPr lang="en-US" sz="246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Requires multiple specialized tools for cybersecurity assessment.</a:t>
            </a:r>
          </a:p>
          <a:p>
            <a:pPr marL="532412" lvl="1" indent="-266206" algn="l">
              <a:lnSpc>
                <a:spcPts val="3329"/>
              </a:lnSpc>
              <a:buFont typeface="Arial"/>
              <a:buChar char="•"/>
            </a:pPr>
            <a:r>
              <a:rPr lang="en-US" sz="246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Raw technical outputs - difficult for non-experts to understand.</a:t>
            </a:r>
          </a:p>
          <a:p>
            <a:pPr marL="532412" lvl="1" indent="-266206" algn="l">
              <a:lnSpc>
                <a:spcPts val="3329"/>
              </a:lnSpc>
              <a:buFont typeface="Arial"/>
              <a:buChar char="•"/>
            </a:pPr>
            <a:r>
              <a:rPr lang="en-US" sz="246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Vulnerability detection - not indicate risk or priority.</a:t>
            </a:r>
          </a:p>
          <a:p>
            <a:pPr marL="532412" lvl="1" indent="-266206" algn="l">
              <a:lnSpc>
                <a:spcPts val="3329"/>
              </a:lnSpc>
              <a:buFont typeface="Arial"/>
              <a:buChar char="•"/>
            </a:pPr>
            <a:r>
              <a:rPr lang="en-US" sz="246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Security findings - fragmented across different assessment areas.</a:t>
            </a:r>
          </a:p>
          <a:p>
            <a:pPr algn="l">
              <a:lnSpc>
                <a:spcPts val="3329"/>
              </a:lnSpc>
              <a:spcBef>
                <a:spcPct val="0"/>
              </a:spcBef>
            </a:pPr>
            <a:endParaRPr lang="en-US" sz="2466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28700" y="3608193"/>
            <a:ext cx="5683261" cy="675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23"/>
              </a:lnSpc>
            </a:pPr>
            <a:r>
              <a:rPr lang="en-US" sz="4700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RESEARCH GAP/STUDY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028700" y="3466488"/>
            <a:ext cx="597518" cy="103605"/>
            <a:chOff x="0" y="0"/>
            <a:chExt cx="812800" cy="14093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140934"/>
            </a:xfrm>
            <a:custGeom>
              <a:avLst/>
              <a:gdLst/>
              <a:ahLst/>
              <a:cxnLst/>
              <a:rect l="l" t="t" r="r" b="b"/>
              <a:pathLst>
                <a:path w="812800" h="140934">
                  <a:moveTo>
                    <a:pt x="0" y="0"/>
                  </a:moveTo>
                  <a:lnTo>
                    <a:pt x="812800" y="0"/>
                  </a:lnTo>
                  <a:lnTo>
                    <a:pt x="812800" y="140934"/>
                  </a:lnTo>
                  <a:lnTo>
                    <a:pt x="0" y="140934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812800" cy="179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275777" y="4293485"/>
            <a:ext cx="15061564" cy="1202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9263" lvl="1" indent="-249632" algn="l">
              <a:lnSpc>
                <a:spcPts val="3121"/>
              </a:lnSpc>
              <a:buFont typeface="Arial"/>
              <a:buChar char="•"/>
            </a:pPr>
            <a:r>
              <a:rPr lang="en-US" sz="231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Existing research - focuses on individual security assessment techniques - often developed independently.</a:t>
            </a:r>
          </a:p>
          <a:p>
            <a:pPr marL="520853" lvl="1" indent="-260426" algn="l">
              <a:lnSpc>
                <a:spcPts val="3256"/>
              </a:lnSpc>
              <a:spcBef>
                <a:spcPct val="0"/>
              </a:spcBef>
              <a:buFont typeface="Arial"/>
              <a:buChar char="•"/>
            </a:pPr>
            <a:r>
              <a:rPr lang="en-US" sz="241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 integrated platform combining multiple security analyses with ML-based risk prediction - is needed.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73100" y="6059382"/>
            <a:ext cx="2537686" cy="675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23"/>
              </a:lnSpc>
            </a:pPr>
            <a:r>
              <a:rPr lang="en-US" sz="4700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OBJECTIVES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073100" y="5799407"/>
            <a:ext cx="597518" cy="103605"/>
            <a:chOff x="0" y="0"/>
            <a:chExt cx="812800" cy="14093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140934"/>
            </a:xfrm>
            <a:custGeom>
              <a:avLst/>
              <a:gdLst/>
              <a:ahLst/>
              <a:cxnLst/>
              <a:rect l="l" t="t" r="r" b="b"/>
              <a:pathLst>
                <a:path w="812800" h="140934">
                  <a:moveTo>
                    <a:pt x="0" y="0"/>
                  </a:moveTo>
                  <a:lnTo>
                    <a:pt x="812800" y="0"/>
                  </a:lnTo>
                  <a:lnTo>
                    <a:pt x="812800" y="140934"/>
                  </a:lnTo>
                  <a:lnTo>
                    <a:pt x="0" y="140934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812800" cy="179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275777" y="6677492"/>
            <a:ext cx="11731915" cy="2734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4" lvl="1" indent="-280667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Develop the integrated cybersecurity platform SURAKSHA.</a:t>
            </a:r>
          </a:p>
          <a:p>
            <a:pPr marL="561334" lvl="1" indent="-280667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Perform web vulnerability scanning and network reconnaissance.</a:t>
            </a:r>
          </a:p>
          <a:p>
            <a:pPr marL="561334" lvl="1" indent="-280667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Analyze SSL/TLS security and network protocols.</a:t>
            </a:r>
          </a:p>
          <a:p>
            <a:pPr marL="561334" lvl="1" indent="-280667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Map vulnerabilities to relevant CVE records.</a:t>
            </a:r>
          </a:p>
          <a:p>
            <a:pPr marL="561334" lvl="1" indent="-280667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Predict security risk levels using machine learning.</a:t>
            </a:r>
          </a:p>
          <a:p>
            <a:pPr marL="561334" lvl="1" indent="-280667" algn="l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Provide centralized, risk-based security findings.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7857396" y="8851031"/>
            <a:ext cx="26368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799720"/>
            <a:ext cx="3762997" cy="675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23"/>
              </a:lnSpc>
            </a:pPr>
            <a:r>
              <a:rPr lang="en-US" sz="4700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PROPOSED SYSTEM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8700" y="658015"/>
            <a:ext cx="597518" cy="103605"/>
            <a:chOff x="0" y="0"/>
            <a:chExt cx="812800" cy="14093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140934"/>
            </a:xfrm>
            <a:custGeom>
              <a:avLst/>
              <a:gdLst/>
              <a:ahLst/>
              <a:cxnLst/>
              <a:rect l="l" t="t" r="r" b="b"/>
              <a:pathLst>
                <a:path w="812800" h="140934">
                  <a:moveTo>
                    <a:pt x="0" y="0"/>
                  </a:moveTo>
                  <a:lnTo>
                    <a:pt x="812800" y="0"/>
                  </a:lnTo>
                  <a:lnTo>
                    <a:pt x="812800" y="140934"/>
                  </a:lnTo>
                  <a:lnTo>
                    <a:pt x="0" y="140934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812800" cy="179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1810905"/>
            <a:ext cx="16805723" cy="1133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3"/>
              </a:lnSpc>
            </a:pPr>
            <a:r>
              <a:rPr lang="en-US" sz="2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SURAKSHA is an integrated cybersecurity assessment platform that combines multiple security analysis techniques with Ml-based risk prediction.</a:t>
            </a:r>
          </a:p>
          <a:p>
            <a:pPr algn="l">
              <a:lnSpc>
                <a:spcPts val="2943"/>
              </a:lnSpc>
            </a:pPr>
            <a:endParaRPr lang="en-US" sz="27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2839226"/>
            <a:ext cx="15964465" cy="5400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93"/>
              </a:lnSpc>
            </a:pPr>
            <a:r>
              <a:rPr lang="en-US" sz="2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System includes :</a:t>
            </a:r>
          </a:p>
          <a:p>
            <a:pPr algn="l">
              <a:lnSpc>
                <a:spcPts val="4293"/>
              </a:lnSpc>
            </a:pPr>
            <a:endParaRPr lang="en-US" sz="27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582949" lvl="1" indent="-291475" algn="l">
              <a:lnSpc>
                <a:spcPts val="4293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Performs web vulnerability scanning for SQL Injection, XSS, security headers and sensitive paths.</a:t>
            </a:r>
          </a:p>
          <a:p>
            <a:pPr marL="582949" lvl="1" indent="-291475" algn="l">
              <a:lnSpc>
                <a:spcPts val="4293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Performs network reconnaissance using Nmap for ports, services and versions.</a:t>
            </a:r>
          </a:p>
          <a:p>
            <a:pPr marL="582949" lvl="1" indent="-291475" algn="l">
              <a:lnSpc>
                <a:spcPts val="4293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Checks SSL/TLS configuration and certificate details.</a:t>
            </a:r>
          </a:p>
          <a:p>
            <a:pPr marL="582949" lvl="1" indent="-291475" algn="l">
              <a:lnSpc>
                <a:spcPts val="4293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Performs protocol and service analysis.</a:t>
            </a:r>
          </a:p>
          <a:p>
            <a:pPr marL="582949" lvl="1" indent="-291475" algn="l">
              <a:lnSpc>
                <a:spcPts val="4293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Maps detected services and vulnerabilities to CVE information.</a:t>
            </a:r>
          </a:p>
          <a:p>
            <a:pPr marL="582949" lvl="1" indent="-291475" algn="l">
              <a:lnSpc>
                <a:spcPts val="4293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Uses Machine Learning to support risk prediction.</a:t>
            </a:r>
          </a:p>
          <a:p>
            <a:pPr marL="582949" lvl="1" indent="-291475" algn="l">
              <a:lnSpc>
                <a:spcPts val="4293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Stores scan results and vulnerabilities in a centralized SQLite database.</a:t>
            </a:r>
          </a:p>
          <a:p>
            <a:pPr marL="582949" lvl="1" indent="-291475" algn="l">
              <a:lnSpc>
                <a:spcPts val="4293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Generates reports with severity, risk, evidence and recommendations.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7857396" y="8851031"/>
            <a:ext cx="26368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05</a:t>
            </a:r>
          </a:p>
        </p:txBody>
      </p:sp>
      <p:sp>
        <p:nvSpPr>
          <p:cNvPr id="8" name="Freeform 8"/>
          <p:cNvSpPr/>
          <p:nvPr/>
        </p:nvSpPr>
        <p:spPr>
          <a:xfrm>
            <a:off x="12205578" y="3102449"/>
            <a:ext cx="2468924" cy="2468924"/>
          </a:xfrm>
          <a:custGeom>
            <a:avLst/>
            <a:gdLst/>
            <a:ahLst/>
            <a:cxnLst/>
            <a:rect l="l" t="t" r="r" b="b"/>
            <a:pathLst>
              <a:path w="2468924" h="2468924">
                <a:moveTo>
                  <a:pt x="0" y="0"/>
                </a:moveTo>
                <a:lnTo>
                  <a:pt x="2468923" y="0"/>
                </a:lnTo>
                <a:lnTo>
                  <a:pt x="2468923" y="2468924"/>
                </a:lnTo>
                <a:lnTo>
                  <a:pt x="0" y="24689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6305162" y="8266035"/>
            <a:ext cx="1565933" cy="1565933"/>
          </a:xfrm>
          <a:custGeom>
            <a:avLst/>
            <a:gdLst/>
            <a:ahLst/>
            <a:cxnLst/>
            <a:rect l="l" t="t" r="r" b="b"/>
            <a:pathLst>
              <a:path w="1565933" h="1565933">
                <a:moveTo>
                  <a:pt x="0" y="0"/>
                </a:moveTo>
                <a:lnTo>
                  <a:pt x="1565933" y="0"/>
                </a:lnTo>
                <a:lnTo>
                  <a:pt x="1565933" y="1565933"/>
                </a:lnTo>
                <a:lnTo>
                  <a:pt x="0" y="15659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/>
          <p:cNvSpPr txBox="1"/>
          <p:nvPr/>
        </p:nvSpPr>
        <p:spPr>
          <a:xfrm>
            <a:off x="2148383" y="2275202"/>
            <a:ext cx="4971485" cy="927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84"/>
              </a:lnSpc>
            </a:pPr>
            <a:r>
              <a:rPr lang="en-US" sz="6499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TECHNOLOGY STACK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2148383" y="2104921"/>
            <a:ext cx="597518" cy="103605"/>
            <a:chOff x="0" y="0"/>
            <a:chExt cx="812800" cy="14093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140934"/>
            </a:xfrm>
            <a:custGeom>
              <a:avLst/>
              <a:gdLst/>
              <a:ahLst/>
              <a:cxnLst/>
              <a:rect l="l" t="t" r="r" b="b"/>
              <a:pathLst>
                <a:path w="812800" h="140934">
                  <a:moveTo>
                    <a:pt x="0" y="0"/>
                  </a:moveTo>
                  <a:lnTo>
                    <a:pt x="812800" y="0"/>
                  </a:lnTo>
                  <a:lnTo>
                    <a:pt x="812800" y="140934"/>
                  </a:lnTo>
                  <a:lnTo>
                    <a:pt x="0" y="140934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812800" cy="179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114319" y="3689181"/>
            <a:ext cx="9354980" cy="1030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59"/>
              </a:lnSpc>
              <a:spcBef>
                <a:spcPct val="0"/>
              </a:spcBef>
            </a:pPr>
            <a:r>
              <a:rPr lang="en-US" sz="2971" b="1">
                <a:solidFill>
                  <a:srgbClr val="5CE1E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Frontend : </a:t>
            </a:r>
            <a:r>
              <a:rPr lang="en-US" sz="297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HTML · CSS · JavaScript · Bootstrap</a:t>
            </a:r>
          </a:p>
          <a:p>
            <a:pPr algn="l">
              <a:lnSpc>
                <a:spcPts val="4159"/>
              </a:lnSpc>
              <a:spcBef>
                <a:spcPct val="0"/>
              </a:spcBef>
            </a:pPr>
            <a:endParaRPr lang="en-US" sz="2971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114319" y="4481004"/>
            <a:ext cx="7307955" cy="1030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59"/>
              </a:lnSpc>
              <a:spcBef>
                <a:spcPct val="0"/>
              </a:spcBef>
            </a:pPr>
            <a:r>
              <a:rPr lang="en-US" sz="2971" b="1">
                <a:solidFill>
                  <a:srgbClr val="5CE1E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Backend : </a:t>
            </a:r>
            <a:r>
              <a:rPr lang="en-US" sz="297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Python · Flask</a:t>
            </a:r>
          </a:p>
          <a:p>
            <a:pPr algn="l">
              <a:lnSpc>
                <a:spcPts val="4159"/>
              </a:lnSpc>
              <a:spcBef>
                <a:spcPct val="0"/>
              </a:spcBef>
            </a:pPr>
            <a:endParaRPr lang="en-US" sz="2971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169577" y="5268124"/>
            <a:ext cx="7307955" cy="1030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59"/>
              </a:lnSpc>
              <a:spcBef>
                <a:spcPct val="0"/>
              </a:spcBef>
            </a:pPr>
            <a:r>
              <a:rPr lang="en-US" sz="2971" b="1">
                <a:solidFill>
                  <a:srgbClr val="5CE1E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Database : </a:t>
            </a:r>
            <a:r>
              <a:rPr lang="en-US" sz="297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SQLite3</a:t>
            </a:r>
          </a:p>
          <a:p>
            <a:pPr algn="l">
              <a:lnSpc>
                <a:spcPts val="4159"/>
              </a:lnSpc>
              <a:spcBef>
                <a:spcPct val="0"/>
              </a:spcBef>
            </a:pPr>
            <a:endParaRPr lang="en-US" sz="2971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2169577" y="6023137"/>
            <a:ext cx="11606607" cy="1585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14"/>
              </a:lnSpc>
              <a:spcBef>
                <a:spcPct val="0"/>
              </a:spcBef>
            </a:pPr>
            <a:r>
              <a:rPr lang="en-US" sz="3010" b="1">
                <a:solidFill>
                  <a:srgbClr val="5CE1E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Machine Learning :</a:t>
            </a:r>
            <a:r>
              <a:rPr lang="en-US" sz="301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Scikit-learn · Joblib · Random Forest</a:t>
            </a:r>
          </a:p>
          <a:p>
            <a:pPr algn="just">
              <a:lnSpc>
                <a:spcPts val="4214"/>
              </a:lnSpc>
              <a:spcBef>
                <a:spcPct val="0"/>
              </a:spcBef>
            </a:pPr>
            <a:endParaRPr lang="en-US" sz="301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4214"/>
              </a:lnSpc>
              <a:spcBef>
                <a:spcPct val="0"/>
              </a:spcBef>
            </a:pPr>
            <a:endParaRPr lang="en-US" sz="301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2169577" y="6814940"/>
            <a:ext cx="11606607" cy="1585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14"/>
              </a:lnSpc>
              <a:spcBef>
                <a:spcPct val="0"/>
              </a:spcBef>
            </a:pPr>
            <a:r>
              <a:rPr lang="en-US" sz="3010" b="1">
                <a:solidFill>
                  <a:srgbClr val="5CE1E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Security Tools : </a:t>
            </a:r>
            <a:r>
              <a:rPr lang="en-US" sz="301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Nmap · Python-Nmap · Requests</a:t>
            </a:r>
          </a:p>
          <a:p>
            <a:pPr algn="just">
              <a:lnSpc>
                <a:spcPts val="4214"/>
              </a:lnSpc>
              <a:spcBef>
                <a:spcPct val="0"/>
              </a:spcBef>
            </a:pPr>
            <a:endParaRPr lang="en-US" sz="301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4214"/>
              </a:lnSpc>
              <a:spcBef>
                <a:spcPct val="0"/>
              </a:spcBef>
            </a:pPr>
            <a:endParaRPr lang="en-US" sz="301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763935" y="2592139"/>
            <a:ext cx="2468924" cy="2468924"/>
          </a:xfrm>
          <a:custGeom>
            <a:avLst/>
            <a:gdLst/>
            <a:ahLst/>
            <a:cxnLst/>
            <a:rect l="l" t="t" r="r" b="b"/>
            <a:pathLst>
              <a:path w="2468924" h="2468924">
                <a:moveTo>
                  <a:pt x="0" y="0"/>
                </a:moveTo>
                <a:lnTo>
                  <a:pt x="2468924" y="0"/>
                </a:lnTo>
                <a:lnTo>
                  <a:pt x="2468924" y="2468924"/>
                </a:lnTo>
                <a:lnTo>
                  <a:pt x="0" y="24689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5149889" y="7483068"/>
            <a:ext cx="1565933" cy="1565933"/>
          </a:xfrm>
          <a:custGeom>
            <a:avLst/>
            <a:gdLst/>
            <a:ahLst/>
            <a:cxnLst/>
            <a:rect l="l" t="t" r="r" b="b"/>
            <a:pathLst>
              <a:path w="1565933" h="1565933">
                <a:moveTo>
                  <a:pt x="0" y="0"/>
                </a:moveTo>
                <a:lnTo>
                  <a:pt x="1565934" y="0"/>
                </a:lnTo>
                <a:lnTo>
                  <a:pt x="1565934" y="1565934"/>
                </a:lnTo>
                <a:lnTo>
                  <a:pt x="0" y="15659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1073100" y="925095"/>
            <a:ext cx="597518" cy="103605"/>
            <a:chOff x="0" y="0"/>
            <a:chExt cx="812800" cy="14093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140934"/>
            </a:xfrm>
            <a:custGeom>
              <a:avLst/>
              <a:gdLst/>
              <a:ahLst/>
              <a:cxnLst/>
              <a:rect l="l" t="t" r="r" b="b"/>
              <a:pathLst>
                <a:path w="812800" h="140934">
                  <a:moveTo>
                    <a:pt x="0" y="0"/>
                  </a:moveTo>
                  <a:lnTo>
                    <a:pt x="812800" y="0"/>
                  </a:lnTo>
                  <a:lnTo>
                    <a:pt x="812800" y="140934"/>
                  </a:lnTo>
                  <a:lnTo>
                    <a:pt x="0" y="140934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812800" cy="179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2863133" y="2007651"/>
            <a:ext cx="13003453" cy="7509735"/>
          </a:xfrm>
          <a:custGeom>
            <a:avLst/>
            <a:gdLst/>
            <a:ahLst/>
            <a:cxnLst/>
            <a:rect l="l" t="t" r="r" b="b"/>
            <a:pathLst>
              <a:path w="13003453" h="7509735">
                <a:moveTo>
                  <a:pt x="0" y="0"/>
                </a:moveTo>
                <a:lnTo>
                  <a:pt x="13003453" y="0"/>
                </a:lnTo>
                <a:lnTo>
                  <a:pt x="13003453" y="7509735"/>
                </a:lnTo>
                <a:lnTo>
                  <a:pt x="0" y="75097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397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TextBox 13"/>
          <p:cNvSpPr txBox="1"/>
          <p:nvPr/>
        </p:nvSpPr>
        <p:spPr>
          <a:xfrm>
            <a:off x="17857396" y="8851031"/>
            <a:ext cx="26368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39108" y="1076325"/>
            <a:ext cx="5705010" cy="715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0"/>
              </a:lnSpc>
            </a:pPr>
            <a:r>
              <a:rPr lang="en-US" sz="5000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USER - ARCHITECTURAL  FLOW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108992" y="1043858"/>
            <a:ext cx="597518" cy="103605"/>
            <a:chOff x="0" y="0"/>
            <a:chExt cx="812800" cy="14093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140934"/>
            </a:xfrm>
            <a:custGeom>
              <a:avLst/>
              <a:gdLst/>
              <a:ahLst/>
              <a:cxnLst/>
              <a:rect l="l" t="t" r="r" b="b"/>
              <a:pathLst>
                <a:path w="812800" h="140934">
                  <a:moveTo>
                    <a:pt x="0" y="0"/>
                  </a:moveTo>
                  <a:lnTo>
                    <a:pt x="812800" y="0"/>
                  </a:lnTo>
                  <a:lnTo>
                    <a:pt x="812800" y="140934"/>
                  </a:lnTo>
                  <a:lnTo>
                    <a:pt x="0" y="140934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179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108992" y="2468689"/>
            <a:ext cx="12025100" cy="4721302"/>
          </a:xfrm>
          <a:custGeom>
            <a:avLst/>
            <a:gdLst/>
            <a:ahLst/>
            <a:cxnLst/>
            <a:rect l="l" t="t" r="r" b="b"/>
            <a:pathLst>
              <a:path w="12025100" h="4721302">
                <a:moveTo>
                  <a:pt x="0" y="0"/>
                </a:moveTo>
                <a:lnTo>
                  <a:pt x="12025100" y="0"/>
                </a:lnTo>
                <a:lnTo>
                  <a:pt x="12025100" y="4721302"/>
                </a:lnTo>
                <a:lnTo>
                  <a:pt x="0" y="47213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8" name="Group 8"/>
          <p:cNvGrpSpPr/>
          <p:nvPr/>
        </p:nvGrpSpPr>
        <p:grpSpPr>
          <a:xfrm>
            <a:off x="17690482" y="8660782"/>
            <a:ext cx="597518" cy="597518"/>
            <a:chOff x="0" y="0"/>
            <a:chExt cx="796690" cy="79669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796690" cy="796690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0000">
                      <a:alpha val="100000"/>
                    </a:srgbClr>
                  </a:gs>
                  <a:gs pos="100000">
                    <a:srgbClr val="5E0000">
                      <a:alpha val="100000"/>
                    </a:srgbClr>
                  </a:gs>
                </a:gsLst>
                <a:lin ang="2700000"/>
              </a:gra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222552" y="260015"/>
              <a:ext cx="351586" cy="2578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80"/>
                </a:lnSpc>
                <a:spcBef>
                  <a:spcPct val="0"/>
                </a:spcBef>
              </a:pPr>
              <a:r>
                <a:rPr lang="en-US" sz="120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07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108992" y="1373754"/>
            <a:ext cx="6112540" cy="718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0"/>
              </a:lnSpc>
            </a:pPr>
            <a:r>
              <a:rPr lang="en-US" sz="5000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ADMIN - ARCHITECTURAL  FLOW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08992" y="1043858"/>
            <a:ext cx="597518" cy="103605"/>
            <a:chOff x="0" y="0"/>
            <a:chExt cx="812800" cy="14093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140934"/>
            </a:xfrm>
            <a:custGeom>
              <a:avLst/>
              <a:gdLst/>
              <a:ahLst/>
              <a:cxnLst/>
              <a:rect l="l" t="t" r="r" b="b"/>
              <a:pathLst>
                <a:path w="812800" h="140934">
                  <a:moveTo>
                    <a:pt x="0" y="0"/>
                  </a:moveTo>
                  <a:lnTo>
                    <a:pt x="812800" y="0"/>
                  </a:lnTo>
                  <a:lnTo>
                    <a:pt x="812800" y="140934"/>
                  </a:lnTo>
                  <a:lnTo>
                    <a:pt x="0" y="140934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12800" cy="179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10" name="Object 10"/>
          <p:cNvGraphicFramePr/>
          <p:nvPr/>
        </p:nvGraphicFramePr>
        <p:xfrm>
          <a:off x="1422750" y="4114976"/>
          <a:ext cx="10701338" cy="536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2839700" imgH="7505700" progId="Excel.Sheet.12">
                  <p:embed/>
                </p:oleObj>
              </mc:Choice>
              <mc:Fallback>
                <p:oleObj name="Worksheet" r:id="rId3" imgW="12839700" imgH="75057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22750" y="4114976"/>
                        <a:ext cx="10701338" cy="53628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1"/>
          <p:cNvSpPr txBox="1"/>
          <p:nvPr/>
        </p:nvSpPr>
        <p:spPr>
          <a:xfrm>
            <a:off x="17857396" y="8851031"/>
            <a:ext cx="26368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08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08992" y="1373754"/>
            <a:ext cx="6112540" cy="715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0"/>
              </a:lnSpc>
            </a:pPr>
            <a:r>
              <a:rPr lang="en-US" sz="5000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DATABASE DESCRIPTION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661977" y="2461544"/>
            <a:ext cx="7526189" cy="391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sz="2800" b="1" spc="439">
                <a:solidFill>
                  <a:srgbClr val="5CE1E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Tables : </a:t>
            </a:r>
            <a:r>
              <a:rPr lang="en-US" sz="2800" b="1" spc="43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user,scan,vulnerability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46988" y="2461544"/>
            <a:ext cx="4959872" cy="391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sz="2800" b="1" spc="439">
                <a:solidFill>
                  <a:srgbClr val="5CE1E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Schema : </a:t>
            </a:r>
            <a:r>
              <a:rPr lang="en-US" sz="2800" b="1" spc="43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scanner.db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63830" y="3636121"/>
            <a:ext cx="7526189" cy="391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sz="2800" b="1" spc="439">
                <a:solidFill>
                  <a:srgbClr val="FF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User table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7" name="Object 7"/>
          <p:cNvGraphicFramePr/>
          <p:nvPr/>
        </p:nvGraphicFramePr>
        <p:xfrm>
          <a:off x="1207795" y="1815094"/>
          <a:ext cx="11108057" cy="822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3322300" imgH="10439400" progId="Excel.Sheet.12">
                  <p:embed/>
                </p:oleObj>
              </mc:Choice>
              <mc:Fallback>
                <p:oleObj name="Worksheet" r:id="rId3" imgW="13322300" imgH="104394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07795" y="1815094"/>
                        <a:ext cx="11108057" cy="822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8"/>
          <p:cNvSpPr txBox="1"/>
          <p:nvPr/>
        </p:nvSpPr>
        <p:spPr>
          <a:xfrm>
            <a:off x="17857396" y="8851031"/>
            <a:ext cx="26368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09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07795" y="1313516"/>
            <a:ext cx="7526189" cy="391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sz="2800" b="1" spc="439">
                <a:solidFill>
                  <a:srgbClr val="FF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scans table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7" name="Object 7"/>
          <p:cNvGraphicFramePr/>
          <p:nvPr/>
        </p:nvGraphicFramePr>
        <p:xfrm>
          <a:off x="1207795" y="1943111"/>
          <a:ext cx="10860774" cy="822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3030200" imgH="10401300" progId="Excel.Sheet.12">
                  <p:embed/>
                </p:oleObj>
              </mc:Choice>
              <mc:Fallback>
                <p:oleObj name="Worksheet" r:id="rId3" imgW="13030200" imgH="104013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07795" y="1943111"/>
                        <a:ext cx="10860774" cy="822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8"/>
          <p:cNvSpPr txBox="1"/>
          <p:nvPr/>
        </p:nvSpPr>
        <p:spPr>
          <a:xfrm>
            <a:off x="17857396" y="8851031"/>
            <a:ext cx="26368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07795" y="1313516"/>
            <a:ext cx="7526189" cy="391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sz="2800" b="1" spc="439">
                <a:solidFill>
                  <a:srgbClr val="FF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vulnerability table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108992" y="1043858"/>
            <a:ext cx="597518" cy="103605"/>
            <a:chOff x="0" y="0"/>
            <a:chExt cx="812800" cy="14093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140934"/>
            </a:xfrm>
            <a:custGeom>
              <a:avLst/>
              <a:gdLst/>
              <a:ahLst/>
              <a:cxnLst/>
              <a:rect l="l" t="t" r="r" b="b"/>
              <a:pathLst>
                <a:path w="812800" h="140934">
                  <a:moveTo>
                    <a:pt x="0" y="0"/>
                  </a:moveTo>
                  <a:lnTo>
                    <a:pt x="812800" y="0"/>
                  </a:lnTo>
                  <a:lnTo>
                    <a:pt x="812800" y="140934"/>
                  </a:lnTo>
                  <a:lnTo>
                    <a:pt x="0" y="140934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179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2619825" y="4681787"/>
            <a:ext cx="1545437" cy="1828920"/>
          </a:xfrm>
          <a:custGeom>
            <a:avLst/>
            <a:gdLst/>
            <a:ahLst/>
            <a:cxnLst/>
            <a:rect l="l" t="t" r="r" b="b"/>
            <a:pathLst>
              <a:path w="1545437" h="1828920">
                <a:moveTo>
                  <a:pt x="0" y="0"/>
                </a:moveTo>
                <a:lnTo>
                  <a:pt x="1545437" y="0"/>
                </a:lnTo>
                <a:lnTo>
                  <a:pt x="1545437" y="1828920"/>
                </a:lnTo>
                <a:lnTo>
                  <a:pt x="0" y="1828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AutoShape 11"/>
          <p:cNvSpPr/>
          <p:nvPr/>
        </p:nvSpPr>
        <p:spPr>
          <a:xfrm flipV="1">
            <a:off x="4408832" y="4486564"/>
            <a:ext cx="5716377" cy="1316752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12" name="AutoShape 12"/>
          <p:cNvSpPr/>
          <p:nvPr/>
        </p:nvSpPr>
        <p:spPr>
          <a:xfrm>
            <a:off x="4401074" y="5820715"/>
            <a:ext cx="5724134" cy="859547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grpSp>
        <p:nvGrpSpPr>
          <p:cNvPr id="13" name="Group 13"/>
          <p:cNvGrpSpPr/>
          <p:nvPr/>
        </p:nvGrpSpPr>
        <p:grpSpPr>
          <a:xfrm>
            <a:off x="10125208" y="3886814"/>
            <a:ext cx="4844680" cy="1199499"/>
            <a:chOff x="0" y="0"/>
            <a:chExt cx="2132563" cy="52800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32563" cy="528004"/>
            </a:xfrm>
            <a:custGeom>
              <a:avLst/>
              <a:gdLst/>
              <a:ahLst/>
              <a:cxnLst/>
              <a:rect l="l" t="t" r="r" b="b"/>
              <a:pathLst>
                <a:path w="2132563" h="528004">
                  <a:moveTo>
                    <a:pt x="1066281" y="0"/>
                  </a:moveTo>
                  <a:cubicBezTo>
                    <a:pt x="477390" y="0"/>
                    <a:pt x="0" y="118198"/>
                    <a:pt x="0" y="264002"/>
                  </a:cubicBezTo>
                  <a:cubicBezTo>
                    <a:pt x="0" y="409806"/>
                    <a:pt x="477390" y="528004"/>
                    <a:pt x="1066281" y="528004"/>
                  </a:cubicBezTo>
                  <a:cubicBezTo>
                    <a:pt x="1655172" y="528004"/>
                    <a:pt x="2132563" y="409806"/>
                    <a:pt x="2132563" y="264002"/>
                  </a:cubicBezTo>
                  <a:cubicBezTo>
                    <a:pt x="2132563" y="118198"/>
                    <a:pt x="1655172" y="0"/>
                    <a:pt x="10662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9928" y="11400"/>
              <a:ext cx="1732707" cy="4671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User Management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108992" y="1373754"/>
            <a:ext cx="6112540" cy="715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0"/>
              </a:lnSpc>
            </a:pPr>
            <a:r>
              <a:rPr lang="en-US" sz="5000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MODULE DESCRIPTION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857396" y="8851031"/>
            <a:ext cx="26368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752797" y="6746618"/>
            <a:ext cx="1412465" cy="433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9"/>
              </a:lnSpc>
            </a:pPr>
            <a:r>
              <a:rPr lang="en-US" sz="3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Admin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125208" y="6108768"/>
            <a:ext cx="4844680" cy="1199499"/>
            <a:chOff x="0" y="0"/>
            <a:chExt cx="2132563" cy="52800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32563" cy="528004"/>
            </a:xfrm>
            <a:custGeom>
              <a:avLst/>
              <a:gdLst/>
              <a:ahLst/>
              <a:cxnLst/>
              <a:rect l="l" t="t" r="r" b="b"/>
              <a:pathLst>
                <a:path w="2132563" h="528004">
                  <a:moveTo>
                    <a:pt x="1066281" y="0"/>
                  </a:moveTo>
                  <a:cubicBezTo>
                    <a:pt x="477390" y="0"/>
                    <a:pt x="0" y="118198"/>
                    <a:pt x="0" y="264002"/>
                  </a:cubicBezTo>
                  <a:cubicBezTo>
                    <a:pt x="0" y="409806"/>
                    <a:pt x="477390" y="528004"/>
                    <a:pt x="1066281" y="528004"/>
                  </a:cubicBezTo>
                  <a:cubicBezTo>
                    <a:pt x="1655172" y="528004"/>
                    <a:pt x="2132563" y="409806"/>
                    <a:pt x="2132563" y="264002"/>
                  </a:cubicBezTo>
                  <a:cubicBezTo>
                    <a:pt x="2132563" y="118198"/>
                    <a:pt x="1655172" y="0"/>
                    <a:pt x="10662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9928" y="11400"/>
              <a:ext cx="1732707" cy="4671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Handle reports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2619825" y="4681787"/>
            <a:ext cx="1545437" cy="1828920"/>
          </a:xfrm>
          <a:custGeom>
            <a:avLst/>
            <a:gdLst/>
            <a:ahLst/>
            <a:cxnLst/>
            <a:rect l="l" t="t" r="r" b="b"/>
            <a:pathLst>
              <a:path w="1545437" h="1828920">
                <a:moveTo>
                  <a:pt x="0" y="0"/>
                </a:moveTo>
                <a:lnTo>
                  <a:pt x="1545437" y="0"/>
                </a:lnTo>
                <a:lnTo>
                  <a:pt x="1545437" y="1828920"/>
                </a:lnTo>
                <a:lnTo>
                  <a:pt x="0" y="1828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AutoShape 5"/>
          <p:cNvSpPr/>
          <p:nvPr/>
        </p:nvSpPr>
        <p:spPr>
          <a:xfrm flipV="1">
            <a:off x="4415682" y="3316393"/>
            <a:ext cx="5862683" cy="2505487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6" name="AutoShape 6"/>
          <p:cNvSpPr/>
          <p:nvPr/>
        </p:nvSpPr>
        <p:spPr>
          <a:xfrm>
            <a:off x="4401074" y="5820715"/>
            <a:ext cx="5982543" cy="990489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grpSp>
        <p:nvGrpSpPr>
          <p:cNvPr id="7" name="Group 7"/>
          <p:cNvGrpSpPr/>
          <p:nvPr/>
        </p:nvGrpSpPr>
        <p:grpSpPr>
          <a:xfrm>
            <a:off x="10278365" y="2716643"/>
            <a:ext cx="3889223" cy="962937"/>
            <a:chOff x="0" y="0"/>
            <a:chExt cx="2132563" cy="52800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32563" cy="528004"/>
            </a:xfrm>
            <a:custGeom>
              <a:avLst/>
              <a:gdLst/>
              <a:ahLst/>
              <a:cxnLst/>
              <a:rect l="l" t="t" r="r" b="b"/>
              <a:pathLst>
                <a:path w="2132563" h="528004">
                  <a:moveTo>
                    <a:pt x="1066281" y="0"/>
                  </a:moveTo>
                  <a:cubicBezTo>
                    <a:pt x="477390" y="0"/>
                    <a:pt x="0" y="118198"/>
                    <a:pt x="0" y="264002"/>
                  </a:cubicBezTo>
                  <a:cubicBezTo>
                    <a:pt x="0" y="409806"/>
                    <a:pt x="477390" y="528004"/>
                    <a:pt x="1066281" y="528004"/>
                  </a:cubicBezTo>
                  <a:cubicBezTo>
                    <a:pt x="1655172" y="528004"/>
                    <a:pt x="2132563" y="409806"/>
                    <a:pt x="2132563" y="264002"/>
                  </a:cubicBezTo>
                  <a:cubicBezTo>
                    <a:pt x="2132563" y="118198"/>
                    <a:pt x="1655172" y="0"/>
                    <a:pt x="10662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9928" y="11400"/>
              <a:ext cx="1732707" cy="4671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Web Vulnerability Scanning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383617" y="6355795"/>
            <a:ext cx="3678718" cy="910818"/>
            <a:chOff x="0" y="0"/>
            <a:chExt cx="2132563" cy="52800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32563" cy="528004"/>
            </a:xfrm>
            <a:custGeom>
              <a:avLst/>
              <a:gdLst/>
              <a:ahLst/>
              <a:cxnLst/>
              <a:rect l="l" t="t" r="r" b="b"/>
              <a:pathLst>
                <a:path w="2132563" h="528004">
                  <a:moveTo>
                    <a:pt x="1066281" y="0"/>
                  </a:moveTo>
                  <a:cubicBezTo>
                    <a:pt x="477390" y="0"/>
                    <a:pt x="0" y="118198"/>
                    <a:pt x="0" y="264002"/>
                  </a:cubicBezTo>
                  <a:cubicBezTo>
                    <a:pt x="0" y="409806"/>
                    <a:pt x="477390" y="528004"/>
                    <a:pt x="1066281" y="528004"/>
                  </a:cubicBezTo>
                  <a:cubicBezTo>
                    <a:pt x="1655172" y="528004"/>
                    <a:pt x="2132563" y="409806"/>
                    <a:pt x="2132563" y="264002"/>
                  </a:cubicBezTo>
                  <a:cubicBezTo>
                    <a:pt x="2132563" y="118198"/>
                    <a:pt x="1655172" y="0"/>
                    <a:pt x="10662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9928" y="11400"/>
              <a:ext cx="1732707" cy="4671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View reports</a:t>
              </a:r>
            </a:p>
          </p:txBody>
        </p:sp>
      </p:grpSp>
      <p:sp>
        <p:nvSpPr>
          <p:cNvPr id="13" name="AutoShape 13"/>
          <p:cNvSpPr/>
          <p:nvPr/>
        </p:nvSpPr>
        <p:spPr>
          <a:xfrm flipV="1">
            <a:off x="4411406" y="1854453"/>
            <a:ext cx="5862683" cy="3950257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grpSp>
        <p:nvGrpSpPr>
          <p:cNvPr id="14" name="Group 14"/>
          <p:cNvGrpSpPr/>
          <p:nvPr/>
        </p:nvGrpSpPr>
        <p:grpSpPr>
          <a:xfrm>
            <a:off x="10359926" y="3941334"/>
            <a:ext cx="3807662" cy="942743"/>
            <a:chOff x="0" y="0"/>
            <a:chExt cx="2132563" cy="52800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32563" cy="528004"/>
            </a:xfrm>
            <a:custGeom>
              <a:avLst/>
              <a:gdLst/>
              <a:ahLst/>
              <a:cxnLst/>
              <a:rect l="l" t="t" r="r" b="b"/>
              <a:pathLst>
                <a:path w="2132563" h="528004">
                  <a:moveTo>
                    <a:pt x="1066281" y="0"/>
                  </a:moveTo>
                  <a:cubicBezTo>
                    <a:pt x="477390" y="0"/>
                    <a:pt x="0" y="118198"/>
                    <a:pt x="0" y="264002"/>
                  </a:cubicBezTo>
                  <a:cubicBezTo>
                    <a:pt x="0" y="409806"/>
                    <a:pt x="477390" y="528004"/>
                    <a:pt x="1066281" y="528004"/>
                  </a:cubicBezTo>
                  <a:cubicBezTo>
                    <a:pt x="1655172" y="528004"/>
                    <a:pt x="2132563" y="409806"/>
                    <a:pt x="2132563" y="264002"/>
                  </a:cubicBezTo>
                  <a:cubicBezTo>
                    <a:pt x="2132563" y="118198"/>
                    <a:pt x="1655172" y="0"/>
                    <a:pt x="10662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99928" y="11400"/>
              <a:ext cx="1732707" cy="4671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SSL/TLS Security Analysis</a:t>
              </a:r>
            </a:p>
          </p:txBody>
        </p:sp>
      </p:grpSp>
      <p:sp>
        <p:nvSpPr>
          <p:cNvPr id="17" name="AutoShape 17"/>
          <p:cNvSpPr/>
          <p:nvPr/>
        </p:nvSpPr>
        <p:spPr>
          <a:xfrm flipV="1">
            <a:off x="4415682" y="4412706"/>
            <a:ext cx="5944244" cy="1409174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grpSp>
        <p:nvGrpSpPr>
          <p:cNvPr id="18" name="Group 18"/>
          <p:cNvGrpSpPr/>
          <p:nvPr/>
        </p:nvGrpSpPr>
        <p:grpSpPr>
          <a:xfrm>
            <a:off x="10278365" y="1398604"/>
            <a:ext cx="3682274" cy="911698"/>
            <a:chOff x="0" y="0"/>
            <a:chExt cx="2132563" cy="52800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32563" cy="528004"/>
            </a:xfrm>
            <a:custGeom>
              <a:avLst/>
              <a:gdLst/>
              <a:ahLst/>
              <a:cxnLst/>
              <a:rect l="l" t="t" r="r" b="b"/>
              <a:pathLst>
                <a:path w="2132563" h="528004">
                  <a:moveTo>
                    <a:pt x="1066281" y="0"/>
                  </a:moveTo>
                  <a:cubicBezTo>
                    <a:pt x="477390" y="0"/>
                    <a:pt x="0" y="118198"/>
                    <a:pt x="0" y="264002"/>
                  </a:cubicBezTo>
                  <a:cubicBezTo>
                    <a:pt x="0" y="409806"/>
                    <a:pt x="477390" y="528004"/>
                    <a:pt x="1066281" y="528004"/>
                  </a:cubicBezTo>
                  <a:cubicBezTo>
                    <a:pt x="1655172" y="528004"/>
                    <a:pt x="2132563" y="409806"/>
                    <a:pt x="2132563" y="264002"/>
                  </a:cubicBezTo>
                  <a:cubicBezTo>
                    <a:pt x="2132563" y="118198"/>
                    <a:pt x="1655172" y="0"/>
                    <a:pt x="10662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9928" y="11400"/>
              <a:ext cx="1732707" cy="4671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Network Reconnaissance</a:t>
              </a:r>
            </a:p>
          </p:txBody>
        </p:sp>
      </p:grpSp>
      <p:sp>
        <p:nvSpPr>
          <p:cNvPr id="21" name="AutoShape 21"/>
          <p:cNvSpPr/>
          <p:nvPr/>
        </p:nvSpPr>
        <p:spPr>
          <a:xfrm flipV="1">
            <a:off x="4415682" y="5596247"/>
            <a:ext cx="5944244" cy="225633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grpSp>
        <p:nvGrpSpPr>
          <p:cNvPr id="22" name="Group 22"/>
          <p:cNvGrpSpPr/>
          <p:nvPr/>
        </p:nvGrpSpPr>
        <p:grpSpPr>
          <a:xfrm>
            <a:off x="10347732" y="5136163"/>
            <a:ext cx="3807662" cy="962457"/>
            <a:chOff x="0" y="0"/>
            <a:chExt cx="2132563" cy="53904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132563" cy="539045"/>
            </a:xfrm>
            <a:custGeom>
              <a:avLst/>
              <a:gdLst/>
              <a:ahLst/>
              <a:cxnLst/>
              <a:rect l="l" t="t" r="r" b="b"/>
              <a:pathLst>
                <a:path w="2132563" h="539045">
                  <a:moveTo>
                    <a:pt x="1066281" y="0"/>
                  </a:moveTo>
                  <a:cubicBezTo>
                    <a:pt x="477390" y="0"/>
                    <a:pt x="0" y="120669"/>
                    <a:pt x="0" y="269522"/>
                  </a:cubicBezTo>
                  <a:cubicBezTo>
                    <a:pt x="0" y="418375"/>
                    <a:pt x="477390" y="539045"/>
                    <a:pt x="1066281" y="539045"/>
                  </a:cubicBezTo>
                  <a:cubicBezTo>
                    <a:pt x="1655172" y="539045"/>
                    <a:pt x="2132563" y="418375"/>
                    <a:pt x="2132563" y="269522"/>
                  </a:cubicBezTo>
                  <a:cubicBezTo>
                    <a:pt x="2132563" y="120669"/>
                    <a:pt x="1655172" y="0"/>
                    <a:pt x="10662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99928" y="12435"/>
              <a:ext cx="1732707" cy="4760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Protocol Analysis 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&amp; CVE Mapping</a:t>
              </a:r>
            </a:p>
          </p:txBody>
        </p:sp>
      </p:grpSp>
      <p:sp>
        <p:nvSpPr>
          <p:cNvPr id="25" name="AutoShape 25"/>
          <p:cNvSpPr/>
          <p:nvPr/>
        </p:nvSpPr>
        <p:spPr>
          <a:xfrm>
            <a:off x="4406759" y="5822892"/>
            <a:ext cx="5940972" cy="2186755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grpSp>
        <p:nvGrpSpPr>
          <p:cNvPr id="26" name="Group 26"/>
          <p:cNvGrpSpPr/>
          <p:nvPr/>
        </p:nvGrpSpPr>
        <p:grpSpPr>
          <a:xfrm>
            <a:off x="10347732" y="7528419"/>
            <a:ext cx="3678718" cy="962457"/>
            <a:chOff x="0" y="0"/>
            <a:chExt cx="2132563" cy="55793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132563" cy="557939"/>
            </a:xfrm>
            <a:custGeom>
              <a:avLst/>
              <a:gdLst/>
              <a:ahLst/>
              <a:cxnLst/>
              <a:rect l="l" t="t" r="r" b="b"/>
              <a:pathLst>
                <a:path w="2132563" h="557939">
                  <a:moveTo>
                    <a:pt x="1066281" y="0"/>
                  </a:moveTo>
                  <a:cubicBezTo>
                    <a:pt x="477390" y="0"/>
                    <a:pt x="0" y="124899"/>
                    <a:pt x="0" y="278969"/>
                  </a:cubicBezTo>
                  <a:cubicBezTo>
                    <a:pt x="0" y="433040"/>
                    <a:pt x="477390" y="557939"/>
                    <a:pt x="1066281" y="557939"/>
                  </a:cubicBezTo>
                  <a:cubicBezTo>
                    <a:pt x="1655172" y="557939"/>
                    <a:pt x="2132563" y="433040"/>
                    <a:pt x="2132563" y="278969"/>
                  </a:cubicBezTo>
                  <a:cubicBezTo>
                    <a:pt x="2132563" y="124899"/>
                    <a:pt x="1655172" y="0"/>
                    <a:pt x="10662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99928" y="14207"/>
              <a:ext cx="1732707" cy="491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Access Remediation Recommendations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2752797" y="6718362"/>
            <a:ext cx="1412465" cy="433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9"/>
              </a:lnSpc>
            </a:pPr>
            <a:r>
              <a:rPr lang="en-US" sz="3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USER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7857396" y="8851031"/>
            <a:ext cx="26368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08992" y="1043858"/>
            <a:ext cx="597518" cy="103605"/>
            <a:chOff x="0" y="0"/>
            <a:chExt cx="812800" cy="14093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140934"/>
            </a:xfrm>
            <a:custGeom>
              <a:avLst/>
              <a:gdLst/>
              <a:ahLst/>
              <a:cxnLst/>
              <a:rect l="l" t="t" r="r" b="b"/>
              <a:pathLst>
                <a:path w="812800" h="140934">
                  <a:moveTo>
                    <a:pt x="0" y="0"/>
                  </a:moveTo>
                  <a:lnTo>
                    <a:pt x="812800" y="0"/>
                  </a:lnTo>
                  <a:lnTo>
                    <a:pt x="812800" y="140934"/>
                  </a:lnTo>
                  <a:lnTo>
                    <a:pt x="0" y="140934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12800" cy="179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10" name="Object 10"/>
          <p:cNvGraphicFramePr/>
          <p:nvPr/>
        </p:nvGraphicFramePr>
        <p:xfrm>
          <a:off x="1108992" y="3151413"/>
          <a:ext cx="15059025" cy="589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8059400" imgH="8902700" progId="Excel.Sheet.12">
                  <p:embed/>
                </p:oleObj>
              </mc:Choice>
              <mc:Fallback>
                <p:oleObj name="Worksheet" r:id="rId3" imgW="18059400" imgH="89027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08992" y="3151413"/>
                        <a:ext cx="15059025" cy="5897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reeform 11"/>
          <p:cNvSpPr/>
          <p:nvPr/>
        </p:nvSpPr>
        <p:spPr>
          <a:xfrm>
            <a:off x="1161659" y="8320411"/>
            <a:ext cx="1017916" cy="464683"/>
          </a:xfrm>
          <a:custGeom>
            <a:avLst/>
            <a:gdLst/>
            <a:ahLst/>
            <a:cxnLst/>
            <a:rect l="l" t="t" r="r" b="b"/>
            <a:pathLst>
              <a:path w="1017916" h="464683">
                <a:moveTo>
                  <a:pt x="0" y="0"/>
                </a:moveTo>
                <a:lnTo>
                  <a:pt x="1017917" y="0"/>
                </a:lnTo>
                <a:lnTo>
                  <a:pt x="1017917" y="464682"/>
                </a:lnTo>
                <a:lnTo>
                  <a:pt x="0" y="4646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270275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>
            <a:off x="2809364" y="8320411"/>
            <a:ext cx="1012428" cy="464683"/>
          </a:xfrm>
          <a:custGeom>
            <a:avLst/>
            <a:gdLst/>
            <a:ahLst/>
            <a:cxnLst/>
            <a:rect l="l" t="t" r="r" b="b"/>
            <a:pathLst>
              <a:path w="1012428" h="464683">
                <a:moveTo>
                  <a:pt x="0" y="0"/>
                </a:moveTo>
                <a:lnTo>
                  <a:pt x="1012428" y="0"/>
                </a:lnTo>
                <a:lnTo>
                  <a:pt x="1012428" y="464682"/>
                </a:lnTo>
                <a:lnTo>
                  <a:pt x="0" y="4646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27398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Freeform 13"/>
          <p:cNvSpPr/>
          <p:nvPr/>
        </p:nvSpPr>
        <p:spPr>
          <a:xfrm>
            <a:off x="4340346" y="8320411"/>
            <a:ext cx="908753" cy="464683"/>
          </a:xfrm>
          <a:custGeom>
            <a:avLst/>
            <a:gdLst/>
            <a:ahLst/>
            <a:cxnLst/>
            <a:rect l="l" t="t" r="r" b="b"/>
            <a:pathLst>
              <a:path w="908753" h="464683">
                <a:moveTo>
                  <a:pt x="0" y="0"/>
                </a:moveTo>
                <a:lnTo>
                  <a:pt x="908753" y="0"/>
                </a:lnTo>
                <a:lnTo>
                  <a:pt x="908753" y="464682"/>
                </a:lnTo>
                <a:lnTo>
                  <a:pt x="0" y="46468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r="-880354" b="-13636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>
            <a:off x="5763449" y="8320411"/>
            <a:ext cx="917210" cy="464683"/>
          </a:xfrm>
          <a:custGeom>
            <a:avLst/>
            <a:gdLst/>
            <a:ahLst/>
            <a:cxnLst/>
            <a:rect l="l" t="t" r="r" b="b"/>
            <a:pathLst>
              <a:path w="917210" h="464683">
                <a:moveTo>
                  <a:pt x="0" y="0"/>
                </a:moveTo>
                <a:lnTo>
                  <a:pt x="917210" y="0"/>
                </a:lnTo>
                <a:lnTo>
                  <a:pt x="917210" y="464682"/>
                </a:lnTo>
                <a:lnTo>
                  <a:pt x="0" y="46468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r="-871314" b="-13636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Freeform 15"/>
          <p:cNvSpPr/>
          <p:nvPr/>
        </p:nvSpPr>
        <p:spPr>
          <a:xfrm>
            <a:off x="9928529" y="3151413"/>
            <a:ext cx="7330771" cy="2005931"/>
          </a:xfrm>
          <a:custGeom>
            <a:avLst/>
            <a:gdLst/>
            <a:ahLst/>
            <a:cxnLst/>
            <a:rect l="l" t="t" r="r" b="b"/>
            <a:pathLst>
              <a:path w="7330771" h="2005931">
                <a:moveTo>
                  <a:pt x="0" y="0"/>
                </a:moveTo>
                <a:lnTo>
                  <a:pt x="7330771" y="0"/>
                </a:lnTo>
                <a:lnTo>
                  <a:pt x="7330771" y="2005932"/>
                </a:lnTo>
                <a:lnTo>
                  <a:pt x="0" y="20059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4410" t="-48350" r="-1411" b="-1805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TextBox 16"/>
          <p:cNvSpPr txBox="1"/>
          <p:nvPr/>
        </p:nvSpPr>
        <p:spPr>
          <a:xfrm>
            <a:off x="17857396" y="8851031"/>
            <a:ext cx="26368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08992" y="1373754"/>
            <a:ext cx="6112540" cy="715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0"/>
              </a:lnSpc>
            </a:pPr>
            <a:r>
              <a:rPr lang="en-US" sz="5000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RISK PREDICTION MODULE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08992" y="2569427"/>
            <a:ext cx="4413171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FF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ALGORITHM &amp; CONFIGURATION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08992" y="7766690"/>
            <a:ext cx="2679144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FF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TRAINING DATASET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60949" y="8826672"/>
            <a:ext cx="789675" cy="3709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 dirty="0">
                <a:solidFill>
                  <a:srgbClr val="2ECC7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low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690439" y="8882774"/>
            <a:ext cx="1284778" cy="3709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 dirty="0">
                <a:solidFill>
                  <a:srgbClr val="FFC7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medium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489565" y="8885555"/>
            <a:ext cx="729871" cy="3709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 dirty="0">
                <a:solidFill>
                  <a:srgbClr val="FF575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high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42113" y="8831981"/>
            <a:ext cx="959882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 dirty="0">
                <a:solidFill>
                  <a:srgbClr val="FF565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critical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928529" y="2569427"/>
            <a:ext cx="2197775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FF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Model Accuracy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08992" y="1043858"/>
            <a:ext cx="597518" cy="103605"/>
            <a:chOff x="0" y="0"/>
            <a:chExt cx="812800" cy="14093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140934"/>
            </a:xfrm>
            <a:custGeom>
              <a:avLst/>
              <a:gdLst/>
              <a:ahLst/>
              <a:cxnLst/>
              <a:rect l="l" t="t" r="r" b="b"/>
              <a:pathLst>
                <a:path w="812800" h="140934">
                  <a:moveTo>
                    <a:pt x="0" y="0"/>
                  </a:moveTo>
                  <a:lnTo>
                    <a:pt x="812800" y="0"/>
                  </a:lnTo>
                  <a:lnTo>
                    <a:pt x="812800" y="140934"/>
                  </a:lnTo>
                  <a:lnTo>
                    <a:pt x="0" y="140934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12800" cy="179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108992" y="2270374"/>
            <a:ext cx="8228873" cy="4211469"/>
          </a:xfrm>
          <a:custGeom>
            <a:avLst/>
            <a:gdLst/>
            <a:ahLst/>
            <a:cxnLst/>
            <a:rect l="l" t="t" r="r" b="b"/>
            <a:pathLst>
              <a:path w="8228873" h="4211469">
                <a:moveTo>
                  <a:pt x="0" y="0"/>
                </a:moveTo>
                <a:lnTo>
                  <a:pt x="8228873" y="0"/>
                </a:lnTo>
                <a:lnTo>
                  <a:pt x="8228873" y="4211469"/>
                </a:lnTo>
                <a:lnTo>
                  <a:pt x="0" y="4211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411"/>
            </a:stretch>
          </a:blipFill>
          <a:ln w="9525" cap="sq">
            <a:solidFill>
              <a:srgbClr val="FF0000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10132099" y="2270374"/>
            <a:ext cx="7142128" cy="4211469"/>
          </a:xfrm>
          <a:custGeom>
            <a:avLst/>
            <a:gdLst/>
            <a:ahLst/>
            <a:cxnLst/>
            <a:rect l="l" t="t" r="r" b="b"/>
            <a:pathLst>
              <a:path w="7142128" h="4211469">
                <a:moveTo>
                  <a:pt x="0" y="0"/>
                </a:moveTo>
                <a:lnTo>
                  <a:pt x="7142129" y="0"/>
                </a:lnTo>
                <a:lnTo>
                  <a:pt x="7142129" y="4211469"/>
                </a:lnTo>
                <a:lnTo>
                  <a:pt x="0" y="4211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826" r="-11826"/>
            </a:stretch>
          </a:blipFill>
          <a:ln w="9525" cap="sq">
            <a:solidFill>
              <a:srgbClr val="FF0000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17857396" y="8851031"/>
            <a:ext cx="26368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08992" y="1373754"/>
            <a:ext cx="6112540" cy="715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0"/>
              </a:lnSpc>
            </a:pPr>
            <a:r>
              <a:rPr lang="en-US" sz="5000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SCREENSHOTS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180837" y="6670418"/>
            <a:ext cx="174890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fig. home page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536910" y="6527861"/>
            <a:ext cx="2054781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fig. features page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649530" y="2659438"/>
            <a:ext cx="8494470" cy="4973528"/>
          </a:xfrm>
          <a:custGeom>
            <a:avLst/>
            <a:gdLst/>
            <a:ahLst/>
            <a:cxnLst/>
            <a:rect l="l" t="t" r="r" b="b"/>
            <a:pathLst>
              <a:path w="8494470" h="4973528">
                <a:moveTo>
                  <a:pt x="0" y="0"/>
                </a:moveTo>
                <a:lnTo>
                  <a:pt x="8494470" y="0"/>
                </a:lnTo>
                <a:lnTo>
                  <a:pt x="8494470" y="4973528"/>
                </a:lnTo>
                <a:lnTo>
                  <a:pt x="0" y="49735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9525" cap="sq">
            <a:solidFill>
              <a:srgbClr val="FF0000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17857396" y="8851031"/>
            <a:ext cx="26368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068685" y="7805355"/>
            <a:ext cx="165615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fig. login page </a:t>
            </a:r>
          </a:p>
        </p:txBody>
      </p:sp>
      <p:sp>
        <p:nvSpPr>
          <p:cNvPr id="10" name="Freeform 10"/>
          <p:cNvSpPr/>
          <p:nvPr/>
        </p:nvSpPr>
        <p:spPr>
          <a:xfrm>
            <a:off x="9611834" y="2833381"/>
            <a:ext cx="7986338" cy="4777837"/>
          </a:xfrm>
          <a:custGeom>
            <a:avLst/>
            <a:gdLst/>
            <a:ahLst/>
            <a:cxnLst/>
            <a:rect l="l" t="t" r="r" b="b"/>
            <a:pathLst>
              <a:path w="7986338" h="4777837">
                <a:moveTo>
                  <a:pt x="0" y="0"/>
                </a:moveTo>
                <a:lnTo>
                  <a:pt x="7986338" y="0"/>
                </a:lnTo>
                <a:lnTo>
                  <a:pt x="7986338" y="4777837"/>
                </a:lnTo>
                <a:lnTo>
                  <a:pt x="0" y="47778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480" r="-7862"/>
            </a:stretch>
          </a:blipFill>
          <a:ln w="9525" cap="sq">
            <a:solidFill>
              <a:srgbClr val="FF0000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12890782" y="7805355"/>
            <a:ext cx="2037398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fig. register  page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2830757" y="1558726"/>
            <a:ext cx="12175523" cy="5768154"/>
          </a:xfrm>
          <a:custGeom>
            <a:avLst/>
            <a:gdLst/>
            <a:ahLst/>
            <a:cxnLst/>
            <a:rect l="l" t="t" r="r" b="b"/>
            <a:pathLst>
              <a:path w="12175523" h="5768154">
                <a:moveTo>
                  <a:pt x="0" y="0"/>
                </a:moveTo>
                <a:lnTo>
                  <a:pt x="12175524" y="0"/>
                </a:lnTo>
                <a:lnTo>
                  <a:pt x="12175524" y="5768154"/>
                </a:lnTo>
                <a:lnTo>
                  <a:pt x="0" y="57681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9525" cap="sq">
            <a:solidFill>
              <a:srgbClr val="FF0000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17857396" y="8851031"/>
            <a:ext cx="26368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80597" y="7404007"/>
            <a:ext cx="2340173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fig. dashboard page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2511743" y="1700248"/>
            <a:ext cx="13084230" cy="6116878"/>
          </a:xfrm>
          <a:custGeom>
            <a:avLst/>
            <a:gdLst/>
            <a:ahLst/>
            <a:cxnLst/>
            <a:rect l="l" t="t" r="r" b="b"/>
            <a:pathLst>
              <a:path w="13084230" h="6116878">
                <a:moveTo>
                  <a:pt x="0" y="0"/>
                </a:moveTo>
                <a:lnTo>
                  <a:pt x="13084230" y="0"/>
                </a:lnTo>
                <a:lnTo>
                  <a:pt x="13084230" y="6116878"/>
                </a:lnTo>
                <a:lnTo>
                  <a:pt x="0" y="61168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9525" cap="sq">
            <a:solidFill>
              <a:srgbClr val="FF0000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17857396" y="8851031"/>
            <a:ext cx="26368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17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91508" y="7947138"/>
            <a:ext cx="3021806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fig. network scanner page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2058754" y="1597746"/>
            <a:ext cx="14221127" cy="6639489"/>
          </a:xfrm>
          <a:custGeom>
            <a:avLst/>
            <a:gdLst/>
            <a:ahLst/>
            <a:cxnLst/>
            <a:rect l="l" t="t" r="r" b="b"/>
            <a:pathLst>
              <a:path w="14221127" h="6639489">
                <a:moveTo>
                  <a:pt x="0" y="0"/>
                </a:moveTo>
                <a:lnTo>
                  <a:pt x="14221127" y="0"/>
                </a:lnTo>
                <a:lnTo>
                  <a:pt x="14221127" y="6639489"/>
                </a:lnTo>
                <a:lnTo>
                  <a:pt x="0" y="66394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9525" cap="sq">
            <a:solidFill>
              <a:srgbClr val="FF0000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17857396" y="8851031"/>
            <a:ext cx="26368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18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82075" y="8360952"/>
            <a:ext cx="255793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fig. web scanner page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601885" y="2191371"/>
            <a:ext cx="13084230" cy="5904259"/>
          </a:xfrm>
          <a:custGeom>
            <a:avLst/>
            <a:gdLst/>
            <a:ahLst/>
            <a:cxnLst/>
            <a:rect l="l" t="t" r="r" b="b"/>
            <a:pathLst>
              <a:path w="13084230" h="5904259">
                <a:moveTo>
                  <a:pt x="0" y="0"/>
                </a:moveTo>
                <a:lnTo>
                  <a:pt x="13084230" y="0"/>
                </a:lnTo>
                <a:lnTo>
                  <a:pt x="13084230" y="5904258"/>
                </a:lnTo>
                <a:lnTo>
                  <a:pt x="0" y="5904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9525" cap="sq">
            <a:solidFill>
              <a:srgbClr val="FF0000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7857396" y="8851031"/>
            <a:ext cx="26368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19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695552" y="8360952"/>
            <a:ext cx="3130987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fig. SSL / TLS checker page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27562" y="2538698"/>
            <a:ext cx="13673578" cy="5520707"/>
          </a:xfrm>
          <a:custGeom>
            <a:avLst/>
            <a:gdLst/>
            <a:ahLst/>
            <a:cxnLst/>
            <a:rect l="l" t="t" r="r" b="b"/>
            <a:pathLst>
              <a:path w="13673578" h="5520707">
                <a:moveTo>
                  <a:pt x="0" y="0"/>
                </a:moveTo>
                <a:lnTo>
                  <a:pt x="13673578" y="0"/>
                </a:lnTo>
                <a:lnTo>
                  <a:pt x="13673578" y="5520707"/>
                </a:lnTo>
                <a:lnTo>
                  <a:pt x="0" y="55207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9525" cap="sq">
            <a:solidFill>
              <a:srgbClr val="FF0000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7857396" y="8851031"/>
            <a:ext cx="26368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359552" y="8232934"/>
            <a:ext cx="1949291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fig. reports page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7857396" y="8851031"/>
            <a:ext cx="26368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081124" y="8232934"/>
            <a:ext cx="2506147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fig. admin dashboard </a:t>
            </a:r>
          </a:p>
        </p:txBody>
      </p:sp>
      <p:sp>
        <p:nvSpPr>
          <p:cNvPr id="9" name="Freeform 9"/>
          <p:cNvSpPr/>
          <p:nvPr/>
        </p:nvSpPr>
        <p:spPr>
          <a:xfrm>
            <a:off x="2601885" y="1877423"/>
            <a:ext cx="13084230" cy="6239542"/>
          </a:xfrm>
          <a:custGeom>
            <a:avLst/>
            <a:gdLst/>
            <a:ahLst/>
            <a:cxnLst/>
            <a:rect l="l" t="t" r="r" b="b"/>
            <a:pathLst>
              <a:path w="13084230" h="6239542">
                <a:moveTo>
                  <a:pt x="0" y="0"/>
                </a:moveTo>
                <a:lnTo>
                  <a:pt x="13084230" y="0"/>
                </a:lnTo>
                <a:lnTo>
                  <a:pt x="13084230" y="6239542"/>
                </a:lnTo>
                <a:lnTo>
                  <a:pt x="0" y="62395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9525" cap="sq">
            <a:solidFill>
              <a:srgbClr val="FF0000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2419003" y="1874226"/>
            <a:ext cx="13084230" cy="5953325"/>
          </a:xfrm>
          <a:custGeom>
            <a:avLst/>
            <a:gdLst/>
            <a:ahLst/>
            <a:cxnLst/>
            <a:rect l="l" t="t" r="r" b="b"/>
            <a:pathLst>
              <a:path w="13084230" h="5953325">
                <a:moveTo>
                  <a:pt x="0" y="0"/>
                </a:moveTo>
                <a:lnTo>
                  <a:pt x="13084230" y="0"/>
                </a:lnTo>
                <a:lnTo>
                  <a:pt x="13084230" y="5953325"/>
                </a:lnTo>
                <a:lnTo>
                  <a:pt x="0" y="59533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9525" cap="sq">
            <a:solidFill>
              <a:srgbClr val="FF0000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17857396" y="8851031"/>
            <a:ext cx="26368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278898" y="8039100"/>
            <a:ext cx="2389102" cy="3225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fig. admin profile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170490" y="2571558"/>
            <a:ext cx="10429315" cy="4641400"/>
          </a:xfrm>
          <a:custGeom>
            <a:avLst/>
            <a:gdLst/>
            <a:ahLst/>
            <a:cxnLst/>
            <a:rect l="l" t="t" r="r" b="b"/>
            <a:pathLst>
              <a:path w="10429315" h="4641400">
                <a:moveTo>
                  <a:pt x="0" y="0"/>
                </a:moveTo>
                <a:lnTo>
                  <a:pt x="10429316" y="0"/>
                </a:lnTo>
                <a:lnTo>
                  <a:pt x="10429316" y="4641400"/>
                </a:lnTo>
                <a:lnTo>
                  <a:pt x="0" y="46414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36" b="-136"/>
            </a:stretch>
          </a:blipFill>
          <a:ln w="9525" cap="sq">
            <a:solidFill>
              <a:srgbClr val="FF0000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2221913" y="1916327"/>
            <a:ext cx="5468570" cy="6135249"/>
          </a:xfrm>
          <a:custGeom>
            <a:avLst/>
            <a:gdLst/>
            <a:ahLst/>
            <a:cxnLst/>
            <a:rect l="l" t="t" r="r" b="b"/>
            <a:pathLst>
              <a:path w="5468570" h="6135249">
                <a:moveTo>
                  <a:pt x="0" y="0"/>
                </a:moveTo>
                <a:lnTo>
                  <a:pt x="5468569" y="0"/>
                </a:lnTo>
                <a:lnTo>
                  <a:pt x="5468569" y="6135249"/>
                </a:lnTo>
                <a:lnTo>
                  <a:pt x="0" y="61352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9525" cap="sq">
            <a:solidFill>
              <a:srgbClr val="FF0000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17857396" y="8851031"/>
            <a:ext cx="26368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44937" y="8013476"/>
            <a:ext cx="3432215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fig. admin / user management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580137" y="1519602"/>
            <a:ext cx="13084230" cy="6116878"/>
          </a:xfrm>
          <a:custGeom>
            <a:avLst/>
            <a:gdLst/>
            <a:ahLst/>
            <a:cxnLst/>
            <a:rect l="l" t="t" r="r" b="b"/>
            <a:pathLst>
              <a:path w="13084230" h="6116878">
                <a:moveTo>
                  <a:pt x="0" y="0"/>
                </a:moveTo>
                <a:lnTo>
                  <a:pt x="13084230" y="0"/>
                </a:lnTo>
                <a:lnTo>
                  <a:pt x="13084230" y="6116877"/>
                </a:lnTo>
                <a:lnTo>
                  <a:pt x="0" y="61168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9525" cap="sq">
            <a:solidFill>
              <a:srgbClr val="FF0000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7857396" y="8851031"/>
            <a:ext cx="26368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24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233000" y="7886700"/>
            <a:ext cx="2282600" cy="3225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fig. admin reports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7857396" y="8851031"/>
            <a:ext cx="26368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25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108992" y="1043858"/>
            <a:ext cx="597518" cy="103605"/>
            <a:chOff x="0" y="0"/>
            <a:chExt cx="812800" cy="14093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140934"/>
            </a:xfrm>
            <a:custGeom>
              <a:avLst/>
              <a:gdLst/>
              <a:ahLst/>
              <a:cxnLst/>
              <a:rect l="l" t="t" r="r" b="b"/>
              <a:pathLst>
                <a:path w="812800" h="140934">
                  <a:moveTo>
                    <a:pt x="0" y="0"/>
                  </a:moveTo>
                  <a:lnTo>
                    <a:pt x="812800" y="0"/>
                  </a:lnTo>
                  <a:lnTo>
                    <a:pt x="812800" y="140934"/>
                  </a:lnTo>
                  <a:lnTo>
                    <a:pt x="0" y="140934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812800" cy="179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108992" y="1373754"/>
            <a:ext cx="6112540" cy="715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0"/>
              </a:lnSpc>
            </a:pPr>
            <a:r>
              <a:rPr lang="en-US" sz="5000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REFERENCES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08992" y="2263390"/>
            <a:ext cx="16432859" cy="7242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8" lvl="1" indent="-237489" algn="l">
              <a:lnSpc>
                <a:spcPts val="4487"/>
              </a:lnSpc>
              <a:spcBef>
                <a:spcPct val="0"/>
              </a:spcBef>
              <a:buFont typeface="Arial"/>
              <a:buChar char="•"/>
            </a:pPr>
            <a:r>
              <a:rPr lang="en-US" sz="2199" i="1" spc="136" dirty="0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Malkawi, M.; Alhajj, R. AI-Powered Vulnerability Detection and Patch Management in Cybersecurity: A Systematic Review of Techniques, Challenges, and Emerging Trends. Mach. Learn. </a:t>
            </a:r>
            <a:r>
              <a:rPr lang="en-US" sz="2199" i="1" spc="136" dirty="0" err="1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Knowl</a:t>
            </a:r>
            <a:r>
              <a:rPr lang="en-US" sz="2199" i="1" spc="136" dirty="0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. </a:t>
            </a:r>
            <a:r>
              <a:rPr lang="en-US" sz="2199" i="1" spc="136" dirty="0" err="1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Extr</a:t>
            </a:r>
            <a:r>
              <a:rPr lang="en-US" sz="2199" i="1" spc="136" dirty="0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. 2026, 8, 19. https://doi.org/10.3390/make8010019</a:t>
            </a:r>
          </a:p>
          <a:p>
            <a:pPr marL="474978" lvl="1" indent="-237489" algn="l">
              <a:lnSpc>
                <a:spcPts val="4487"/>
              </a:lnSpc>
              <a:spcBef>
                <a:spcPct val="0"/>
              </a:spcBef>
              <a:buFont typeface="Arial"/>
              <a:buChar char="•"/>
            </a:pPr>
            <a:r>
              <a:rPr lang="en-US" sz="2199" i="1" spc="136" dirty="0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Bakır, R. UniEmbed: A Novel Approach to Detect XSS and SQL Injection Attacks Leveraging Multiple Feature Fusion with Machine Learning Techniques. Arab J Sci Eng 50, 15591–15604 (2025). https://doi.org/10.1007/s13369-024-09916-4</a:t>
            </a:r>
          </a:p>
          <a:p>
            <a:pPr marL="474978" lvl="1" indent="-237489" algn="l">
              <a:lnSpc>
                <a:spcPts val="4487"/>
              </a:lnSpc>
              <a:spcBef>
                <a:spcPct val="0"/>
              </a:spcBef>
              <a:buFont typeface="Arial"/>
              <a:buChar char="•"/>
            </a:pPr>
            <a:r>
              <a:rPr lang="en-US" sz="2199" i="1" spc="136" dirty="0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Arasteh, B., Aghaei, B., Farzad, B. et al. Detecting SQL injection attacks by binary gray wolf optimizer and machine learning algorithms. Neural </a:t>
            </a:r>
            <a:r>
              <a:rPr lang="en-US" sz="2199" i="1" spc="136" dirty="0" err="1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Comput</a:t>
            </a:r>
            <a:r>
              <a:rPr lang="en-US" sz="2199" i="1" spc="136" dirty="0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&amp; </a:t>
            </a:r>
            <a:r>
              <a:rPr lang="en-US" sz="2199" i="1" spc="136" dirty="0" err="1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Applic</a:t>
            </a:r>
            <a:r>
              <a:rPr lang="en-US" sz="2199" i="1" spc="136" dirty="0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36, 6771–6792 (2024). https://doi.org/10.1007/s00521-024-09429-z</a:t>
            </a:r>
          </a:p>
          <a:p>
            <a:pPr marL="474978" lvl="1" indent="-237489" algn="l">
              <a:lnSpc>
                <a:spcPts val="4487"/>
              </a:lnSpc>
              <a:spcBef>
                <a:spcPct val="0"/>
              </a:spcBef>
              <a:buFont typeface="Arial"/>
              <a:buChar char="•"/>
            </a:pPr>
            <a:r>
              <a:rPr lang="en-US" sz="2199" i="1" spc="136" dirty="0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OWASP Foundation. (2021). OWASP Top 10:2021. https://owasp.org/Top10/</a:t>
            </a:r>
            <a:endParaRPr lang="en-US" sz="2199" i="1" spc="136" dirty="0">
              <a:solidFill>
                <a:srgbClr val="FFFFFF"/>
              </a:solidFill>
              <a:latin typeface="Canva Sans Italics"/>
              <a:ea typeface="Canva Sans Italics"/>
              <a:cs typeface="Canva Sans Italics"/>
              <a:sym typeface="Canva Sans Italics"/>
              <a:hlinkClick r:id="rId3" tooltip="https://owasp.org/Top10/"/>
            </a:endParaRPr>
          </a:p>
          <a:p>
            <a:pPr marL="474978" lvl="1" indent="-237489" algn="l">
              <a:lnSpc>
                <a:spcPts val="4487"/>
              </a:lnSpc>
              <a:spcBef>
                <a:spcPct val="0"/>
              </a:spcBef>
              <a:buFont typeface="Arial"/>
              <a:buChar char="•"/>
            </a:pPr>
            <a:r>
              <a:rPr lang="en-US" sz="2199" i="1" spc="136" dirty="0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Lyon, G. (2025). Nmap Network Scanning: The Official Nmap Project Guide to Network Discovery and Security Scanning. Nmap Project. https://nmap.org/book/</a:t>
            </a:r>
            <a:endParaRPr lang="en-US" sz="2199" i="1" spc="136" dirty="0">
              <a:solidFill>
                <a:srgbClr val="FFFFFF"/>
              </a:solidFill>
              <a:latin typeface="Canva Sans Italics"/>
              <a:ea typeface="Canva Sans Italics"/>
              <a:cs typeface="Canva Sans Italics"/>
              <a:sym typeface="Canva Sans Italics"/>
              <a:hlinkClick r:id="rId4" tooltip="https://nmap.org/book/?utm_source=chatgpt.com"/>
            </a:endParaRPr>
          </a:p>
          <a:p>
            <a:pPr marL="474978" lvl="1" indent="-237489" algn="l">
              <a:lnSpc>
                <a:spcPts val="4487"/>
              </a:lnSpc>
              <a:spcBef>
                <a:spcPct val="0"/>
              </a:spcBef>
              <a:buFont typeface="Arial"/>
              <a:buChar char="•"/>
            </a:pPr>
            <a:r>
              <a:rPr lang="en-US" sz="2199" i="1" spc="136" dirty="0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Scikit-learn Developers. Scikit-learn User Guide. https://scikit-learn.org/stable/user_guide.html</a:t>
            </a:r>
            <a:endParaRPr lang="en-US" sz="2199" i="1" spc="136" dirty="0">
              <a:solidFill>
                <a:srgbClr val="FFFFFF"/>
              </a:solidFill>
              <a:latin typeface="Canva Sans Italics"/>
              <a:ea typeface="Canva Sans Italics"/>
              <a:cs typeface="Canva Sans Italics"/>
              <a:sym typeface="Canva Sans Italics"/>
              <a:hlinkClick r:id="rId5" tooltip="https://scikit-learn.org/stable/user_guide.htm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08992" y="1043858"/>
            <a:ext cx="597518" cy="103605"/>
            <a:chOff x="0" y="0"/>
            <a:chExt cx="812800" cy="1409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140934"/>
            </a:xfrm>
            <a:custGeom>
              <a:avLst/>
              <a:gdLst/>
              <a:ahLst/>
              <a:cxnLst/>
              <a:rect l="l" t="t" r="r" b="b"/>
              <a:pathLst>
                <a:path w="812800" h="140934">
                  <a:moveTo>
                    <a:pt x="0" y="0"/>
                  </a:moveTo>
                  <a:lnTo>
                    <a:pt x="812800" y="0"/>
                  </a:lnTo>
                  <a:lnTo>
                    <a:pt x="812800" y="140934"/>
                  </a:lnTo>
                  <a:lnTo>
                    <a:pt x="0" y="140934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12800" cy="179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108992" y="1373754"/>
            <a:ext cx="6112540" cy="70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0"/>
              </a:lnSpc>
            </a:pPr>
            <a:r>
              <a:rPr lang="en-US" sz="5000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CONCLUSION</a:t>
            </a:r>
          </a:p>
        </p:txBody>
      </p:sp>
      <p:sp>
        <p:nvSpPr>
          <p:cNvPr id="6" name="Freeform 6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8" name="Group 8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7857396" y="8851031"/>
            <a:ext cx="26368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18056" y="1910329"/>
            <a:ext cx="16639341" cy="3308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8" lvl="1" indent="-237489" algn="l">
              <a:lnSpc>
                <a:spcPts val="4487"/>
              </a:lnSpc>
              <a:spcBef>
                <a:spcPct val="0"/>
              </a:spcBef>
              <a:buFont typeface="Arial"/>
              <a:buChar char="•"/>
            </a:pPr>
            <a:r>
              <a:rPr lang="en-US" sz="2199" i="1" spc="136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SURAKSHA provides an integrated platform for web and network vulnerability assessment.</a:t>
            </a:r>
          </a:p>
          <a:p>
            <a:pPr marL="474978" lvl="1" indent="-237489" algn="l">
              <a:lnSpc>
                <a:spcPts val="4487"/>
              </a:lnSpc>
              <a:spcBef>
                <a:spcPct val="0"/>
              </a:spcBef>
              <a:buFont typeface="Arial"/>
              <a:buChar char="•"/>
            </a:pPr>
            <a:r>
              <a:rPr lang="en-US" sz="2199" i="1" spc="136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Combines web scanning, network reconnaissance, SSL/TLS analysis, protocol analysis, and CVE mapping.</a:t>
            </a:r>
          </a:p>
          <a:p>
            <a:pPr marL="474978" lvl="1" indent="-237489" algn="l">
              <a:lnSpc>
                <a:spcPts val="4487"/>
              </a:lnSpc>
              <a:spcBef>
                <a:spcPct val="0"/>
              </a:spcBef>
              <a:buFont typeface="Arial"/>
              <a:buChar char="•"/>
            </a:pPr>
            <a:r>
              <a:rPr lang="en-US" sz="2199" i="1" spc="136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Uses rule-based security testing and machine-learning-assisted risk prediction.</a:t>
            </a:r>
          </a:p>
          <a:p>
            <a:pPr marL="474978" lvl="1" indent="-237489" algn="l">
              <a:lnSpc>
                <a:spcPts val="4487"/>
              </a:lnSpc>
              <a:spcBef>
                <a:spcPct val="0"/>
              </a:spcBef>
              <a:buFont typeface="Arial"/>
              <a:buChar char="•"/>
            </a:pPr>
            <a:r>
              <a:rPr lang="en-US" sz="2199" i="1" spc="136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Provides centralized scan results, severity levels, risk scores, and security reports.</a:t>
            </a:r>
          </a:p>
          <a:p>
            <a:pPr marL="474978" lvl="1" indent="-237489" algn="l">
              <a:lnSpc>
                <a:spcPts val="4487"/>
              </a:lnSpc>
              <a:spcBef>
                <a:spcPct val="0"/>
              </a:spcBef>
              <a:buFont typeface="Arial"/>
              <a:buChar char="•"/>
            </a:pPr>
            <a:r>
              <a:rPr lang="en-US" sz="2199" i="1" spc="136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Helps users identify vulnerabilities and understand their potential security impact.</a:t>
            </a:r>
          </a:p>
          <a:p>
            <a:pPr marL="474978" lvl="1" indent="-237489" algn="l">
              <a:lnSpc>
                <a:spcPts val="4487"/>
              </a:lnSpc>
              <a:spcBef>
                <a:spcPct val="0"/>
              </a:spcBef>
              <a:buFont typeface="Arial"/>
              <a:buChar char="•"/>
            </a:pPr>
            <a:r>
              <a:rPr lang="en-US" sz="2199" i="1" spc="136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Reduces the need for multiple independent security assessment tools.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18056" y="6551074"/>
            <a:ext cx="14417543" cy="1936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8" lvl="1" indent="-237489" algn="l">
              <a:lnSpc>
                <a:spcPts val="5389"/>
              </a:lnSpc>
              <a:spcBef>
                <a:spcPct val="0"/>
              </a:spcBef>
              <a:buFont typeface="Arial"/>
              <a:buChar char="•"/>
            </a:pPr>
            <a:r>
              <a:rPr lang="en-US" sz="2199" i="1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Expand datasets and attack types to improve vulnerability detection.</a:t>
            </a:r>
          </a:p>
          <a:p>
            <a:pPr marL="474978" lvl="1" indent="-237489" algn="l">
              <a:lnSpc>
                <a:spcPts val="5389"/>
              </a:lnSpc>
              <a:spcBef>
                <a:spcPct val="0"/>
              </a:spcBef>
              <a:buFont typeface="Arial"/>
              <a:buChar char="•"/>
            </a:pPr>
            <a:r>
              <a:rPr lang="en-US" sz="2199" i="1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Detect obfuscated and unseen attacks using improved ML techniques.</a:t>
            </a:r>
          </a:p>
          <a:p>
            <a:pPr marL="474978" lvl="1" indent="-237489" algn="l">
              <a:lnSpc>
                <a:spcPts val="5389"/>
              </a:lnSpc>
              <a:spcBef>
                <a:spcPct val="0"/>
              </a:spcBef>
              <a:buFont typeface="Arial"/>
              <a:buChar char="•"/>
            </a:pPr>
            <a:r>
              <a:rPr lang="en-US" sz="2199" i="1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Improve CVE updates and security recommendations with regularly updated vulnerability information.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08992" y="5919248"/>
            <a:ext cx="6112540" cy="70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0"/>
              </a:lnSpc>
            </a:pPr>
            <a:r>
              <a:rPr lang="en-US" sz="5000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FUTURE ENHANCEMENTS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108992" y="5686774"/>
            <a:ext cx="597518" cy="103605"/>
            <a:chOff x="0" y="0"/>
            <a:chExt cx="812800" cy="14093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140934"/>
            </a:xfrm>
            <a:custGeom>
              <a:avLst/>
              <a:gdLst/>
              <a:ahLst/>
              <a:cxnLst/>
              <a:rect l="l" t="t" r="r" b="b"/>
              <a:pathLst>
                <a:path w="812800" h="140934">
                  <a:moveTo>
                    <a:pt x="0" y="0"/>
                  </a:moveTo>
                  <a:lnTo>
                    <a:pt x="812800" y="0"/>
                  </a:lnTo>
                  <a:lnTo>
                    <a:pt x="812800" y="140934"/>
                  </a:lnTo>
                  <a:lnTo>
                    <a:pt x="0" y="140934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5E0000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812800" cy="179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5202610" y="1202110"/>
            <a:ext cx="7882781" cy="7882781"/>
          </a:xfrm>
          <a:custGeom>
            <a:avLst/>
            <a:gdLst/>
            <a:ahLst/>
            <a:cxnLst/>
            <a:rect l="l" t="t" r="r" b="b"/>
            <a:pathLst>
              <a:path w="7882781" h="7882781">
                <a:moveTo>
                  <a:pt x="0" y="0"/>
                </a:moveTo>
                <a:lnTo>
                  <a:pt x="7882780" y="0"/>
                </a:lnTo>
                <a:lnTo>
                  <a:pt x="7882780" y="7882780"/>
                </a:lnTo>
                <a:lnTo>
                  <a:pt x="0" y="78827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2148401" y="3405437"/>
            <a:ext cx="14165185" cy="4411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379"/>
              </a:lnSpc>
              <a:spcBef>
                <a:spcPct val="0"/>
              </a:spcBef>
            </a:pPr>
            <a:r>
              <a:rPr lang="en-US" sz="25271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820</Words>
  <Application>Microsoft Office PowerPoint</Application>
  <PresentationFormat>Custom</PresentationFormat>
  <Paragraphs>140</Paragraphs>
  <Slides>28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Arial</vt:lpstr>
      <vt:lpstr>Bebas Neue Bold</vt:lpstr>
      <vt:lpstr>Open Sans</vt:lpstr>
      <vt:lpstr>Calibri</vt:lpstr>
      <vt:lpstr>Canva Sans</vt:lpstr>
      <vt:lpstr>Roca One Heavy</vt:lpstr>
      <vt:lpstr>Open Sans Bold</vt:lpstr>
      <vt:lpstr>Canva Sans Italics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 Text Magic Studio Magic Design for Presentations L&amp;P</dc:title>
  <cp:lastModifiedBy>pranavartist1@gmail.com</cp:lastModifiedBy>
  <cp:revision>2</cp:revision>
  <dcterms:created xsi:type="dcterms:W3CDTF">2006-08-16T00:00:00Z</dcterms:created>
  <dcterms:modified xsi:type="dcterms:W3CDTF">2026-10-03T19:15:34Z</dcterms:modified>
  <dc:identifier>DAHW4HK8FWI</dc:identifier>
</cp:coreProperties>
</file>